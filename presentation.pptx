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Calibri (MS) Italics" charset="1" panose="020F05020202040A0204"/>
      <p:regular r:id="rId16"/>
    </p:embeddedFont>
    <p:embeddedFont>
      <p:font typeface="Calibri (MS) Bold" charset="1" panose="020F0702030404030204"/>
      <p:regular r:id="rId17"/>
    </p:embeddedFont>
    <p:embeddedFont>
      <p:font typeface="Calibri (MS)" charset="1" panose="020F050202020403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notesMasters/notesMaster1.xml" Type="http://schemas.openxmlformats.org/officeDocument/2006/relationships/notesMaster"/><Relationship Id="rId14" Target="theme/theme2.xml" Type="http://schemas.openxmlformats.org/officeDocument/2006/relationships/theme"/><Relationship Id="rId15" Target="notesSlides/notesSlide1.xml" Type="http://schemas.openxmlformats.org/officeDocument/2006/relationships/notes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notesSlides/notesSlide2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3.xml" Type="http://schemas.openxmlformats.org/officeDocument/2006/relationships/notesSlide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23" Target="notesSlides/notesSlide6.xml" Type="http://schemas.openxmlformats.org/officeDocument/2006/relationships/notesSlide"/><Relationship Id="rId24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Relationship Id="rId4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Relationship Id="rId4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Relationship Id="rId4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Relationship Id="rId4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jpeg" Type="http://schemas.openxmlformats.org/officeDocument/2006/relationships/image"/><Relationship Id="rId4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jpeg" Type="http://schemas.openxmlformats.org/officeDocument/2006/relationships/image"/><Relationship Id="rId4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2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427739" cy="10312403"/>
            <a:chOff x="0" y="0"/>
            <a:chExt cx="570319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536448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0230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570230">
                  <a:moveTo>
                    <a:pt x="16891" y="0"/>
                  </a:moveTo>
                  <a:lnTo>
                    <a:pt x="553339" y="0"/>
                  </a:lnTo>
                  <a:cubicBezTo>
                    <a:pt x="562737" y="0"/>
                    <a:pt x="570230" y="7620"/>
                    <a:pt x="570230" y="16891"/>
                  </a:cubicBezTo>
                  <a:lnTo>
                    <a:pt x="570230" y="13732890"/>
                  </a:lnTo>
                  <a:cubicBezTo>
                    <a:pt x="570230" y="13742290"/>
                    <a:pt x="562610" y="13749782"/>
                    <a:pt x="553339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553339" y="13716000"/>
                  </a:lnTo>
                  <a:lnTo>
                    <a:pt x="553339" y="13732890"/>
                  </a:lnTo>
                  <a:lnTo>
                    <a:pt x="536448" y="13732890"/>
                  </a:lnTo>
                  <a:lnTo>
                    <a:pt x="536448" y="16891"/>
                  </a:lnTo>
                  <a:lnTo>
                    <a:pt x="553339" y="16891"/>
                  </a:lnTo>
                  <a:lnTo>
                    <a:pt x="5533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4251943" y="-12697"/>
            <a:ext cx="4048763" cy="3683003"/>
            <a:chOff x="0" y="0"/>
            <a:chExt cx="5398351" cy="49106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5364480" cy="4876800"/>
            </a:xfrm>
            <a:custGeom>
              <a:avLst/>
              <a:gdLst/>
              <a:ahLst/>
              <a:cxnLst/>
              <a:rect r="r" b="b" t="t" l="l"/>
              <a:pathLst>
                <a:path h="48768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0D9488">
                <a:alpha val="1961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98262" cy="4910582"/>
            </a:xfrm>
            <a:custGeom>
              <a:avLst/>
              <a:gdLst/>
              <a:ahLst/>
              <a:cxnLst/>
              <a:rect r="r" b="b" t="t" l="l"/>
              <a:pathLst>
                <a:path h="491058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4893691"/>
                  </a:lnTo>
                  <a:cubicBezTo>
                    <a:pt x="5398262" y="4903089"/>
                    <a:pt x="5390642" y="4910582"/>
                    <a:pt x="538137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5381371" y="4876800"/>
                  </a:lnTo>
                  <a:lnTo>
                    <a:pt x="5381371" y="4893691"/>
                  </a:lnTo>
                  <a:lnTo>
                    <a:pt x="5364480" y="489369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714983" y="-12697"/>
            <a:ext cx="2585723" cy="2219963"/>
            <a:chOff x="0" y="0"/>
            <a:chExt cx="3447631" cy="29599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34137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30000"/>
              </a:blip>
              <a:stretch>
                <a:fillRect l="0" t="-1851" r="0" b="-1851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47542" cy="2959862"/>
            </a:xfrm>
            <a:custGeom>
              <a:avLst/>
              <a:gdLst/>
              <a:ahLst/>
              <a:cxnLst/>
              <a:rect r="r" b="b" t="t" l="l"/>
              <a:pathLst>
                <a:path h="2959862" w="3447542">
                  <a:moveTo>
                    <a:pt x="16891" y="0"/>
                  </a:moveTo>
                  <a:lnTo>
                    <a:pt x="3430651" y="0"/>
                  </a:lnTo>
                  <a:cubicBezTo>
                    <a:pt x="3440049" y="0"/>
                    <a:pt x="3447542" y="7620"/>
                    <a:pt x="3447542" y="16891"/>
                  </a:cubicBezTo>
                  <a:lnTo>
                    <a:pt x="3447542" y="2942971"/>
                  </a:lnTo>
                  <a:cubicBezTo>
                    <a:pt x="3447542" y="2952369"/>
                    <a:pt x="3439922" y="2959862"/>
                    <a:pt x="343065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3430651" y="2926080"/>
                  </a:lnTo>
                  <a:lnTo>
                    <a:pt x="3430651" y="2942971"/>
                  </a:lnTo>
                  <a:lnTo>
                    <a:pt x="3413760" y="2942971"/>
                  </a:lnTo>
                  <a:lnTo>
                    <a:pt x="3413760" y="16891"/>
                  </a:lnTo>
                  <a:lnTo>
                    <a:pt x="3430651" y="16891"/>
                  </a:lnTo>
                  <a:lnTo>
                    <a:pt x="3430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05840" y="6492240"/>
            <a:ext cx="14630400" cy="822960"/>
            <a:chOff x="0" y="0"/>
            <a:chExt cx="1950720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507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6400" r="0" b="-29640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95072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i="true">
                  <a:solidFill>
                    <a:srgbClr val="14B8A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From</a:t>
              </a:r>
              <a:r>
                <a:rPr lang="en-US" sz="3000" i="true">
                  <a:solidFill>
                    <a:srgbClr val="14B8A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 Messy Supplier Records to Clean, Actionable Insights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2697" y="9222743"/>
            <a:ext cx="18313403" cy="1076963"/>
            <a:chOff x="0" y="0"/>
            <a:chExt cx="24417871" cy="14359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24383999" cy="1402080"/>
            </a:xfrm>
            <a:custGeom>
              <a:avLst/>
              <a:gdLst/>
              <a:ahLst/>
              <a:cxnLst/>
              <a:rect r="r" b="b" t="t" l="l"/>
              <a:pathLst>
                <a:path h="140208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402080"/>
                  </a:lnTo>
                  <a:lnTo>
                    <a:pt x="0" y="1402080"/>
                  </a:lnTo>
                  <a:close/>
                </a:path>
              </a:pathLst>
            </a:custGeom>
            <a:solidFill>
              <a:srgbClr val="0D9488">
                <a:alpha val="1961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417782" cy="1435862"/>
            </a:xfrm>
            <a:custGeom>
              <a:avLst/>
              <a:gdLst/>
              <a:ahLst/>
              <a:cxnLst/>
              <a:rect r="r" b="b" t="t" l="l"/>
              <a:pathLst>
                <a:path h="143586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418971"/>
                  </a:lnTo>
                  <a:cubicBezTo>
                    <a:pt x="24417782" y="1428369"/>
                    <a:pt x="24410163" y="1435862"/>
                    <a:pt x="24400890" y="1435862"/>
                  </a:cubicBezTo>
                  <a:lnTo>
                    <a:pt x="16891" y="1435862"/>
                  </a:lnTo>
                  <a:cubicBezTo>
                    <a:pt x="7493" y="1435862"/>
                    <a:pt x="0" y="1428242"/>
                    <a:pt x="0" y="1418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18971"/>
                  </a:lnTo>
                  <a:lnTo>
                    <a:pt x="16891" y="1418971"/>
                  </a:lnTo>
                  <a:lnTo>
                    <a:pt x="16891" y="1402080"/>
                  </a:lnTo>
                  <a:lnTo>
                    <a:pt x="24400890" y="1402080"/>
                  </a:lnTo>
                  <a:lnTo>
                    <a:pt x="24400890" y="1418971"/>
                  </a:lnTo>
                  <a:lnTo>
                    <a:pt x="24384000" y="141897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14405" y="4833942"/>
            <a:ext cx="15361920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40"/>
              </a:lnSpc>
            </a:pPr>
            <a:r>
              <a:rPr lang="en-US" sz="9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PoC Simulation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682240"/>
            </a:xfrm>
            <a:custGeom>
              <a:avLst/>
              <a:gdLst/>
              <a:ahLst/>
              <a:cxnLst/>
              <a:rect r="r" b="b" t="t" l="l"/>
              <a:pathLst>
                <a:path h="26822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16022"/>
            </a:xfrm>
            <a:custGeom>
              <a:avLst/>
              <a:gdLst/>
              <a:ahLst/>
              <a:cxnLst/>
              <a:rect r="r" b="b" t="t" l="l"/>
              <a:pathLst>
                <a:path h="27160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58903" y="0"/>
            <a:ext cx="16459200" cy="2011680"/>
            <a:chOff x="0" y="0"/>
            <a:chExt cx="21945600" cy="26822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423" r="0" b="-10942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21945600" cy="2796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Problem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1703" y="2273303"/>
            <a:ext cx="16484603" cy="2402843"/>
            <a:chOff x="0" y="0"/>
            <a:chExt cx="21979471" cy="32037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1945599" cy="3169920"/>
            </a:xfrm>
            <a:custGeom>
              <a:avLst/>
              <a:gdLst/>
              <a:ahLst/>
              <a:cxnLst/>
              <a:rect r="r" b="b" t="t" l="l"/>
              <a:pathLst>
                <a:path h="3169920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79382" cy="3203702"/>
            </a:xfrm>
            <a:custGeom>
              <a:avLst/>
              <a:gdLst/>
              <a:ahLst/>
              <a:cxnLst/>
              <a:rect r="r" b="b" t="t" l="l"/>
              <a:pathLst>
                <a:path h="3203702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3186811"/>
                  </a:lnTo>
                  <a:cubicBezTo>
                    <a:pt x="21979382" y="3196209"/>
                    <a:pt x="21971763" y="3203702"/>
                    <a:pt x="21962490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21962490" y="3169920"/>
                  </a:lnTo>
                  <a:lnTo>
                    <a:pt x="21962490" y="3186811"/>
                  </a:lnTo>
                  <a:lnTo>
                    <a:pt x="21945600" y="3186811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01703" y="2273303"/>
            <a:ext cx="171707" cy="2402843"/>
            <a:chOff x="0" y="0"/>
            <a:chExt cx="228943" cy="32037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95072" cy="3169920"/>
            </a:xfrm>
            <a:custGeom>
              <a:avLst/>
              <a:gdLst/>
              <a:ahLst/>
              <a:cxnLst/>
              <a:rect r="r" b="b" t="t" l="l"/>
              <a:pathLst>
                <a:path h="316992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8854" cy="3203702"/>
            </a:xfrm>
            <a:custGeom>
              <a:avLst/>
              <a:gdLst/>
              <a:ahLst/>
              <a:cxnLst/>
              <a:rect r="r" b="b" t="t" l="l"/>
              <a:pathLst>
                <a:path h="320370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3186811"/>
                  </a:lnTo>
                  <a:cubicBezTo>
                    <a:pt x="228854" y="3196209"/>
                    <a:pt x="221234" y="3203702"/>
                    <a:pt x="211963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211963" y="3169920"/>
                  </a:lnTo>
                  <a:lnTo>
                    <a:pt x="211963" y="3186811"/>
                  </a:lnTo>
                  <a:lnTo>
                    <a:pt x="195072" y="318681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26464" y="2377440"/>
            <a:ext cx="15544800" cy="2194560"/>
            <a:chOff x="0" y="0"/>
            <a:chExt cx="20726400" cy="29260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7264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019" r="0" b="-8801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20726400" cy="2992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734059" indent="-367030" lvl="1">
                <a:lnSpc>
                  <a:spcPts val="4079"/>
                </a:lnSpc>
                <a:buFont typeface="Arial"/>
                <a:buChar char="•"/>
              </a:pPr>
              <a:r>
                <a:rPr lang="en-US" sz="33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592 raw supplier entries (cluttered, duplicate, and fragmented).</a:t>
              </a:r>
            </a:p>
            <a:p>
              <a:pPr algn="l" marL="734059" indent="-367030" lvl="1">
                <a:lnSpc>
                  <a:spcPts val="4079"/>
                </a:lnSpc>
                <a:buFont typeface="Arial"/>
                <a:buChar char="•"/>
              </a:pPr>
              <a:r>
                <a:rPr lang="en-US" sz="33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 entries per</a:t>
              </a:r>
              <a:r>
                <a:rPr lang="en-US" sz="33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company with inconsistent attributes (wrong addresses, outdated industries, missing identifiers).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01703" y="5016503"/>
            <a:ext cx="8072123" cy="1762763"/>
            <a:chOff x="0" y="0"/>
            <a:chExt cx="10762831" cy="23503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0728960" cy="2316480"/>
            </a:xfrm>
            <a:custGeom>
              <a:avLst/>
              <a:gdLst/>
              <a:ahLst/>
              <a:cxnLst/>
              <a:rect r="r" b="b" t="t" l="l"/>
              <a:pathLst>
                <a:path h="231648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FEF2F2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62742" cy="2350262"/>
            </a:xfrm>
            <a:custGeom>
              <a:avLst/>
              <a:gdLst/>
              <a:ahLst/>
              <a:cxnLst/>
              <a:rect r="r" b="b" t="t" l="l"/>
              <a:pathLst>
                <a:path h="235026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2333371"/>
                  </a:lnTo>
                  <a:cubicBezTo>
                    <a:pt x="10762742" y="2342769"/>
                    <a:pt x="10755122" y="2350262"/>
                    <a:pt x="10745851" y="2350262"/>
                  </a:cubicBezTo>
                  <a:lnTo>
                    <a:pt x="16891" y="2350262"/>
                  </a:lnTo>
                  <a:cubicBezTo>
                    <a:pt x="7493" y="2350262"/>
                    <a:pt x="0" y="2342642"/>
                    <a:pt x="0" y="2333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33371"/>
                  </a:lnTo>
                  <a:lnTo>
                    <a:pt x="16891" y="2333371"/>
                  </a:lnTo>
                  <a:lnTo>
                    <a:pt x="16891" y="2316480"/>
                  </a:lnTo>
                  <a:lnTo>
                    <a:pt x="10745851" y="2316480"/>
                  </a:lnTo>
                  <a:lnTo>
                    <a:pt x="10745851" y="2333371"/>
                  </a:lnTo>
                  <a:lnTo>
                    <a:pt x="10728960" y="233337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ECAC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01703" y="5016503"/>
            <a:ext cx="135131" cy="1762763"/>
            <a:chOff x="0" y="0"/>
            <a:chExt cx="180175" cy="235035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46304" cy="2316480"/>
            </a:xfrm>
            <a:custGeom>
              <a:avLst/>
              <a:gdLst/>
              <a:ahLst/>
              <a:cxnLst/>
              <a:rect r="r" b="b" t="t" l="l"/>
              <a:pathLst>
                <a:path h="231648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EF4444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80086" cy="2350262"/>
            </a:xfrm>
            <a:custGeom>
              <a:avLst/>
              <a:gdLst/>
              <a:ahLst/>
              <a:cxnLst/>
              <a:rect r="r" b="b" t="t" l="l"/>
              <a:pathLst>
                <a:path h="235026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333371"/>
                  </a:lnTo>
                  <a:cubicBezTo>
                    <a:pt x="180086" y="2342769"/>
                    <a:pt x="172466" y="2350262"/>
                    <a:pt x="163195" y="2350262"/>
                  </a:cubicBezTo>
                  <a:lnTo>
                    <a:pt x="16891" y="2350262"/>
                  </a:lnTo>
                  <a:cubicBezTo>
                    <a:pt x="7493" y="2350262"/>
                    <a:pt x="0" y="2342642"/>
                    <a:pt x="0" y="2333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33371"/>
                  </a:lnTo>
                  <a:lnTo>
                    <a:pt x="16891" y="2333371"/>
                  </a:lnTo>
                  <a:lnTo>
                    <a:pt x="16891" y="2316480"/>
                  </a:lnTo>
                  <a:lnTo>
                    <a:pt x="163195" y="2316480"/>
                  </a:lnTo>
                  <a:lnTo>
                    <a:pt x="163195" y="2333371"/>
                  </a:lnTo>
                  <a:lnTo>
                    <a:pt x="146304" y="233337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80160" y="5175504"/>
            <a:ext cx="7315200" cy="548640"/>
            <a:chOff x="0" y="0"/>
            <a:chExt cx="975360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753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Manual research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588503" y="5016503"/>
            <a:ext cx="8072123" cy="1762763"/>
            <a:chOff x="0" y="0"/>
            <a:chExt cx="10762831" cy="235035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0728960" cy="2316480"/>
            </a:xfrm>
            <a:custGeom>
              <a:avLst/>
              <a:gdLst/>
              <a:ahLst/>
              <a:cxnLst/>
              <a:rect r="r" b="b" t="t" l="l"/>
              <a:pathLst>
                <a:path h="231648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FEF2F2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762742" cy="2350262"/>
            </a:xfrm>
            <a:custGeom>
              <a:avLst/>
              <a:gdLst/>
              <a:ahLst/>
              <a:cxnLst/>
              <a:rect r="r" b="b" t="t" l="l"/>
              <a:pathLst>
                <a:path h="235026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2333371"/>
                  </a:lnTo>
                  <a:cubicBezTo>
                    <a:pt x="10762742" y="2342769"/>
                    <a:pt x="10755122" y="2350262"/>
                    <a:pt x="10745851" y="2350262"/>
                  </a:cubicBezTo>
                  <a:lnTo>
                    <a:pt x="16891" y="2350262"/>
                  </a:lnTo>
                  <a:cubicBezTo>
                    <a:pt x="7493" y="2350262"/>
                    <a:pt x="0" y="2342642"/>
                    <a:pt x="0" y="2333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33371"/>
                  </a:lnTo>
                  <a:lnTo>
                    <a:pt x="16891" y="2333371"/>
                  </a:lnTo>
                  <a:lnTo>
                    <a:pt x="16891" y="2316480"/>
                  </a:lnTo>
                  <a:lnTo>
                    <a:pt x="10745851" y="2316480"/>
                  </a:lnTo>
                  <a:lnTo>
                    <a:pt x="10745851" y="2333371"/>
                  </a:lnTo>
                  <a:lnTo>
                    <a:pt x="10728960" y="233337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ECACA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588503" y="5016503"/>
            <a:ext cx="135131" cy="1762763"/>
            <a:chOff x="0" y="0"/>
            <a:chExt cx="180175" cy="235035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146304" cy="2316480"/>
            </a:xfrm>
            <a:custGeom>
              <a:avLst/>
              <a:gdLst/>
              <a:ahLst/>
              <a:cxnLst/>
              <a:rect r="r" b="b" t="t" l="l"/>
              <a:pathLst>
                <a:path h="231648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EF4444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80086" cy="2350262"/>
            </a:xfrm>
            <a:custGeom>
              <a:avLst/>
              <a:gdLst/>
              <a:ahLst/>
              <a:cxnLst/>
              <a:rect r="r" b="b" t="t" l="l"/>
              <a:pathLst>
                <a:path h="235026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333371"/>
                  </a:lnTo>
                  <a:cubicBezTo>
                    <a:pt x="180086" y="2342769"/>
                    <a:pt x="172466" y="2350262"/>
                    <a:pt x="163195" y="2350262"/>
                  </a:cubicBezTo>
                  <a:lnTo>
                    <a:pt x="16891" y="2350262"/>
                  </a:lnTo>
                  <a:cubicBezTo>
                    <a:pt x="7493" y="2350262"/>
                    <a:pt x="0" y="2342642"/>
                    <a:pt x="0" y="2333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33371"/>
                  </a:lnTo>
                  <a:lnTo>
                    <a:pt x="16891" y="2333371"/>
                  </a:lnTo>
                  <a:lnTo>
                    <a:pt x="16891" y="2316480"/>
                  </a:lnTo>
                  <a:lnTo>
                    <a:pt x="163195" y="2316480"/>
                  </a:lnTo>
                  <a:lnTo>
                    <a:pt x="163195" y="2333371"/>
                  </a:lnTo>
                  <a:lnTo>
                    <a:pt x="146304" y="233337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966960" y="5175504"/>
            <a:ext cx="7315200" cy="548640"/>
            <a:chOff x="0" y="0"/>
            <a:chExt cx="975360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9753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 API access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01703" y="7119623"/>
            <a:ext cx="8072123" cy="1762763"/>
            <a:chOff x="0" y="0"/>
            <a:chExt cx="10762831" cy="235035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0728960" cy="2316480"/>
            </a:xfrm>
            <a:custGeom>
              <a:avLst/>
              <a:gdLst/>
              <a:ahLst/>
              <a:cxnLst/>
              <a:rect r="r" b="b" t="t" l="l"/>
              <a:pathLst>
                <a:path h="231648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FEF2F2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762742" cy="2350262"/>
            </a:xfrm>
            <a:custGeom>
              <a:avLst/>
              <a:gdLst/>
              <a:ahLst/>
              <a:cxnLst/>
              <a:rect r="r" b="b" t="t" l="l"/>
              <a:pathLst>
                <a:path h="235026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2333371"/>
                  </a:lnTo>
                  <a:cubicBezTo>
                    <a:pt x="10762742" y="2342769"/>
                    <a:pt x="10755122" y="2350262"/>
                    <a:pt x="10745851" y="2350262"/>
                  </a:cubicBezTo>
                  <a:lnTo>
                    <a:pt x="16891" y="2350262"/>
                  </a:lnTo>
                  <a:cubicBezTo>
                    <a:pt x="7493" y="2350262"/>
                    <a:pt x="0" y="2342642"/>
                    <a:pt x="0" y="2333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33371"/>
                  </a:lnTo>
                  <a:lnTo>
                    <a:pt x="16891" y="2333371"/>
                  </a:lnTo>
                  <a:lnTo>
                    <a:pt x="16891" y="2316480"/>
                  </a:lnTo>
                  <a:lnTo>
                    <a:pt x="10745851" y="2316480"/>
                  </a:lnTo>
                  <a:lnTo>
                    <a:pt x="10745851" y="2333371"/>
                  </a:lnTo>
                  <a:lnTo>
                    <a:pt x="10728960" y="233337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ECACA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01703" y="7119623"/>
            <a:ext cx="135131" cy="1762763"/>
            <a:chOff x="0" y="0"/>
            <a:chExt cx="180175" cy="235035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46304" cy="2316480"/>
            </a:xfrm>
            <a:custGeom>
              <a:avLst/>
              <a:gdLst/>
              <a:ahLst/>
              <a:cxnLst/>
              <a:rect r="r" b="b" t="t" l="l"/>
              <a:pathLst>
                <a:path h="231648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EF4444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80086" cy="2350262"/>
            </a:xfrm>
            <a:custGeom>
              <a:avLst/>
              <a:gdLst/>
              <a:ahLst/>
              <a:cxnLst/>
              <a:rect r="r" b="b" t="t" l="l"/>
              <a:pathLst>
                <a:path h="235026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333371"/>
                  </a:lnTo>
                  <a:cubicBezTo>
                    <a:pt x="180086" y="2342769"/>
                    <a:pt x="172466" y="2350262"/>
                    <a:pt x="163195" y="2350262"/>
                  </a:cubicBezTo>
                  <a:lnTo>
                    <a:pt x="16891" y="2350262"/>
                  </a:lnTo>
                  <a:cubicBezTo>
                    <a:pt x="7493" y="2350262"/>
                    <a:pt x="0" y="2342642"/>
                    <a:pt x="0" y="2333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33371"/>
                  </a:lnTo>
                  <a:lnTo>
                    <a:pt x="16891" y="2333371"/>
                  </a:lnTo>
                  <a:lnTo>
                    <a:pt x="16891" y="2316480"/>
                  </a:lnTo>
                  <a:lnTo>
                    <a:pt x="163195" y="2316480"/>
                  </a:lnTo>
                  <a:lnTo>
                    <a:pt x="163195" y="2333371"/>
                  </a:lnTo>
                  <a:lnTo>
                    <a:pt x="146304" y="233337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80160" y="7278624"/>
            <a:ext cx="7315200" cy="548640"/>
            <a:chOff x="0" y="0"/>
            <a:chExt cx="975360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9753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Inconsistent</a:t>
              </a: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source data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588503" y="7119623"/>
            <a:ext cx="8072123" cy="1762763"/>
            <a:chOff x="0" y="0"/>
            <a:chExt cx="10762831" cy="235035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0728960" cy="2316480"/>
            </a:xfrm>
            <a:custGeom>
              <a:avLst/>
              <a:gdLst/>
              <a:ahLst/>
              <a:cxnLst/>
              <a:rect r="r" b="b" t="t" l="l"/>
              <a:pathLst>
                <a:path h="231648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FEF2F2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762742" cy="2350262"/>
            </a:xfrm>
            <a:custGeom>
              <a:avLst/>
              <a:gdLst/>
              <a:ahLst/>
              <a:cxnLst/>
              <a:rect r="r" b="b" t="t" l="l"/>
              <a:pathLst>
                <a:path h="235026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2333371"/>
                  </a:lnTo>
                  <a:cubicBezTo>
                    <a:pt x="10762742" y="2342769"/>
                    <a:pt x="10755122" y="2350262"/>
                    <a:pt x="10745851" y="2350262"/>
                  </a:cubicBezTo>
                  <a:lnTo>
                    <a:pt x="16891" y="2350262"/>
                  </a:lnTo>
                  <a:cubicBezTo>
                    <a:pt x="7493" y="2350262"/>
                    <a:pt x="0" y="2342642"/>
                    <a:pt x="0" y="2333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33371"/>
                  </a:lnTo>
                  <a:lnTo>
                    <a:pt x="16891" y="2333371"/>
                  </a:lnTo>
                  <a:lnTo>
                    <a:pt x="16891" y="2316480"/>
                  </a:lnTo>
                  <a:lnTo>
                    <a:pt x="10745851" y="2316480"/>
                  </a:lnTo>
                  <a:lnTo>
                    <a:pt x="10745851" y="2333371"/>
                  </a:lnTo>
                  <a:lnTo>
                    <a:pt x="10728960" y="233337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ECACA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588503" y="7119623"/>
            <a:ext cx="135131" cy="1762763"/>
            <a:chOff x="0" y="0"/>
            <a:chExt cx="180175" cy="235035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46304" cy="2316480"/>
            </a:xfrm>
            <a:custGeom>
              <a:avLst/>
              <a:gdLst/>
              <a:ahLst/>
              <a:cxnLst/>
              <a:rect r="r" b="b" t="t" l="l"/>
              <a:pathLst>
                <a:path h="231648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EF4444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80086" cy="2350262"/>
            </a:xfrm>
            <a:custGeom>
              <a:avLst/>
              <a:gdLst/>
              <a:ahLst/>
              <a:cxnLst/>
              <a:rect r="r" b="b" t="t" l="l"/>
              <a:pathLst>
                <a:path h="235026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333371"/>
                  </a:lnTo>
                  <a:cubicBezTo>
                    <a:pt x="180086" y="2342769"/>
                    <a:pt x="172466" y="2350262"/>
                    <a:pt x="163195" y="2350262"/>
                  </a:cubicBezTo>
                  <a:lnTo>
                    <a:pt x="16891" y="2350262"/>
                  </a:lnTo>
                  <a:cubicBezTo>
                    <a:pt x="7493" y="2350262"/>
                    <a:pt x="0" y="2342642"/>
                    <a:pt x="0" y="2333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33371"/>
                  </a:lnTo>
                  <a:lnTo>
                    <a:pt x="16891" y="2333371"/>
                  </a:lnTo>
                  <a:lnTo>
                    <a:pt x="16891" y="2316480"/>
                  </a:lnTo>
                  <a:lnTo>
                    <a:pt x="163195" y="2316480"/>
                  </a:lnTo>
                  <a:lnTo>
                    <a:pt x="163195" y="2333371"/>
                  </a:lnTo>
                  <a:lnTo>
                    <a:pt x="146304" y="233337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966960" y="7278624"/>
            <a:ext cx="7315200" cy="548640"/>
            <a:chOff x="0" y="0"/>
            <a:chExt cx="975360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9753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 report format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-12697" y="9716519"/>
            <a:ext cx="18313403" cy="583187"/>
            <a:chOff x="0" y="0"/>
            <a:chExt cx="24417871" cy="77758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24383999" cy="743712"/>
            </a:xfrm>
            <a:custGeom>
              <a:avLst/>
              <a:gdLst/>
              <a:ahLst/>
              <a:cxnLst/>
              <a:rect r="r" b="b" t="t" l="l"/>
              <a:pathLst>
                <a:path h="74371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743712"/>
                  </a:lnTo>
                  <a:lnTo>
                    <a:pt x="0" y="743712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4417782" cy="777496"/>
            </a:xfrm>
            <a:custGeom>
              <a:avLst/>
              <a:gdLst/>
              <a:ahLst/>
              <a:cxnLst/>
              <a:rect r="r" b="b" t="t" l="l"/>
              <a:pathLst>
                <a:path h="77749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760603"/>
                  </a:lnTo>
                  <a:cubicBezTo>
                    <a:pt x="24417782" y="770001"/>
                    <a:pt x="24410163" y="777494"/>
                    <a:pt x="24400890" y="777494"/>
                  </a:cubicBezTo>
                  <a:lnTo>
                    <a:pt x="16891" y="777494"/>
                  </a:lnTo>
                  <a:cubicBezTo>
                    <a:pt x="7620" y="777621"/>
                    <a:pt x="0" y="770001"/>
                    <a:pt x="0" y="7606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60603"/>
                  </a:lnTo>
                  <a:lnTo>
                    <a:pt x="16891" y="760603"/>
                  </a:lnTo>
                  <a:lnTo>
                    <a:pt x="16891" y="743712"/>
                  </a:lnTo>
                  <a:lnTo>
                    <a:pt x="24400890" y="743712"/>
                  </a:lnTo>
                  <a:lnTo>
                    <a:pt x="24400890" y="760603"/>
                  </a:lnTo>
                  <a:lnTo>
                    <a:pt x="24384000" y="7606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6459200" y="9747504"/>
            <a:ext cx="1280160" cy="493776"/>
            <a:chOff x="0" y="0"/>
            <a:chExt cx="1706880" cy="65836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706880" cy="658368"/>
            </a:xfrm>
            <a:custGeom>
              <a:avLst/>
              <a:gdLst/>
              <a:ahLst/>
              <a:cxnLst/>
              <a:rect r="r" b="b" t="t" l="l"/>
              <a:pathLst>
                <a:path h="65836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6" r="0" b="-51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70688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 / 9</a:t>
              </a: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1371600" y="5731764"/>
            <a:ext cx="713232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33415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590 companies × 8 fields = 4,720 manual lookups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0058400" y="5731764"/>
            <a:ext cx="713232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33415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D&amp;B requires approval + budget; API waitlists blocking progress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371600" y="7834884"/>
            <a:ext cx="7132320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33415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Enriched CSV arrived with corrupted coordinates, broken phone numbers, and 28.5% empty cells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0058400" y="7834884"/>
            <a:ext cx="713232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33415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 standard template existed for per-company intelligence pages</a:t>
            </a:r>
          </a:p>
        </p:txBody>
      </p:sp>
      <p:sp>
        <p:nvSpPr>
          <p:cNvPr name="Freeform 63" id="63"/>
          <p:cNvSpPr/>
          <p:nvPr/>
        </p:nvSpPr>
        <p:spPr>
          <a:xfrm flipH="false" flipV="false" rot="0">
            <a:off x="0" y="0"/>
            <a:ext cx="1364519" cy="2602808"/>
          </a:xfrm>
          <a:custGeom>
            <a:avLst/>
            <a:gdLst/>
            <a:ahLst/>
            <a:cxnLst/>
            <a:rect r="r" b="b" t="t" l="l"/>
            <a:pathLst>
              <a:path h="2602808" w="1364519">
                <a:moveTo>
                  <a:pt x="0" y="0"/>
                </a:moveTo>
                <a:lnTo>
                  <a:pt x="1364519" y="0"/>
                </a:lnTo>
                <a:lnTo>
                  <a:pt x="1364519" y="2602808"/>
                </a:lnTo>
                <a:lnTo>
                  <a:pt x="0" y="26028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14592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682240"/>
            </a:xfrm>
            <a:custGeom>
              <a:avLst/>
              <a:gdLst/>
              <a:ahLst/>
              <a:cxnLst/>
              <a:rect r="r" b="b" t="t" l="l"/>
              <a:pathLst>
                <a:path h="26822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16022"/>
            </a:xfrm>
            <a:custGeom>
              <a:avLst/>
              <a:gdLst/>
              <a:ahLst/>
              <a:cxnLst/>
              <a:rect r="r" b="b" t="t" l="l"/>
              <a:pathLst>
                <a:path h="27160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80160" y="-12697"/>
            <a:ext cx="16459200" cy="2011680"/>
            <a:chOff x="0" y="0"/>
            <a:chExt cx="21945600" cy="26822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423" r="0" b="-10942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21945600" cy="2796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Approach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87850" y="2441453"/>
            <a:ext cx="3683003" cy="4048763"/>
            <a:chOff x="0" y="0"/>
            <a:chExt cx="4910671" cy="5398351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4910671" cy="5398351"/>
              <a:chOff x="0" y="0"/>
              <a:chExt cx="4910671" cy="539835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16891" y="16891"/>
                <a:ext cx="4876800" cy="5364480"/>
              </a:xfrm>
              <a:custGeom>
                <a:avLst/>
                <a:gdLst/>
                <a:ahLst/>
                <a:cxnLst/>
                <a:rect r="r" b="b" t="t" l="l"/>
                <a:pathLst>
                  <a:path h="5364480" w="48768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5364480"/>
                    </a:lnTo>
                    <a:lnTo>
                      <a:pt x="0" y="5364480"/>
                    </a:lnTo>
                    <a:close/>
                  </a:path>
                </a:pathLst>
              </a:custGeom>
              <a:solidFill>
                <a:srgbClr val="0D1B2A"/>
              </a:solidFill>
            </p:spPr>
          </p:sp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910582" cy="5398262"/>
              </a:xfrm>
              <a:custGeom>
                <a:avLst/>
                <a:gdLst/>
                <a:ahLst/>
                <a:cxnLst/>
                <a:rect r="r" b="b" t="t" l="l"/>
                <a:pathLst>
                  <a:path h="5398262" w="4910582">
                    <a:moveTo>
                      <a:pt x="16891" y="0"/>
                    </a:moveTo>
                    <a:lnTo>
                      <a:pt x="4893691" y="0"/>
                    </a:lnTo>
                    <a:cubicBezTo>
                      <a:pt x="4903089" y="0"/>
                      <a:pt x="4910582" y="7620"/>
                      <a:pt x="4910582" y="16891"/>
                    </a:cubicBezTo>
                    <a:lnTo>
                      <a:pt x="4910582" y="5381371"/>
                    </a:lnTo>
                    <a:cubicBezTo>
                      <a:pt x="4910582" y="5390769"/>
                      <a:pt x="4902962" y="5398262"/>
                      <a:pt x="4893691" y="5398262"/>
                    </a:cubicBezTo>
                    <a:lnTo>
                      <a:pt x="16891" y="5398262"/>
                    </a:lnTo>
                    <a:cubicBezTo>
                      <a:pt x="7493" y="5398262"/>
                      <a:pt x="0" y="5390642"/>
                      <a:pt x="0" y="538137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5381371"/>
                    </a:lnTo>
                    <a:lnTo>
                      <a:pt x="16891" y="5381371"/>
                    </a:lnTo>
                    <a:lnTo>
                      <a:pt x="16891" y="5364480"/>
                    </a:lnTo>
                    <a:lnTo>
                      <a:pt x="4893691" y="5364480"/>
                    </a:lnTo>
                    <a:lnTo>
                      <a:pt x="4893691" y="5381371"/>
                    </a:lnTo>
                    <a:lnTo>
                      <a:pt x="4876800" y="5381371"/>
                    </a:lnTo>
                    <a:lnTo>
                      <a:pt x="4876800" y="16891"/>
                    </a:lnTo>
                    <a:lnTo>
                      <a:pt x="4893691" y="16891"/>
                    </a:lnTo>
                    <a:lnTo>
                      <a:pt x="489369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D1B2A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4910671" cy="204559"/>
              <a:chOff x="0" y="0"/>
              <a:chExt cx="4910671" cy="204559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16891" y="16891"/>
                <a:ext cx="4876800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48768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170688"/>
                    </a:lnTo>
                    <a:lnTo>
                      <a:pt x="0" y="170688"/>
                    </a:lnTo>
                    <a:close/>
                  </a:path>
                </a:pathLst>
              </a:custGeom>
              <a:solidFill>
                <a:srgbClr val="0D9488"/>
              </a:solidFill>
            </p:spPr>
          </p:sp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910582" cy="204472"/>
              </a:xfrm>
              <a:custGeom>
                <a:avLst/>
                <a:gdLst/>
                <a:ahLst/>
                <a:cxnLst/>
                <a:rect r="r" b="b" t="t" l="l"/>
                <a:pathLst>
                  <a:path h="204472" w="4910582">
                    <a:moveTo>
                      <a:pt x="16891" y="0"/>
                    </a:moveTo>
                    <a:lnTo>
                      <a:pt x="4893691" y="0"/>
                    </a:lnTo>
                    <a:cubicBezTo>
                      <a:pt x="4903089" y="0"/>
                      <a:pt x="4910582" y="7620"/>
                      <a:pt x="4910582" y="16891"/>
                    </a:cubicBezTo>
                    <a:lnTo>
                      <a:pt x="4910582" y="187579"/>
                    </a:lnTo>
                    <a:cubicBezTo>
                      <a:pt x="4910582" y="196977"/>
                      <a:pt x="4902962" y="204470"/>
                      <a:pt x="4893691" y="204470"/>
                    </a:cubicBezTo>
                    <a:lnTo>
                      <a:pt x="16891" y="204470"/>
                    </a:lnTo>
                    <a:cubicBezTo>
                      <a:pt x="7620" y="204597"/>
                      <a:pt x="0" y="196977"/>
                      <a:pt x="0" y="18757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87579"/>
                    </a:lnTo>
                    <a:lnTo>
                      <a:pt x="16891" y="187579"/>
                    </a:lnTo>
                    <a:lnTo>
                      <a:pt x="16891" y="170688"/>
                    </a:lnTo>
                    <a:lnTo>
                      <a:pt x="4893691" y="170688"/>
                    </a:lnTo>
                    <a:lnTo>
                      <a:pt x="4893691" y="187579"/>
                    </a:lnTo>
                    <a:lnTo>
                      <a:pt x="4876800" y="187579"/>
                    </a:lnTo>
                    <a:lnTo>
                      <a:pt x="4876800" y="16891"/>
                    </a:lnTo>
                    <a:lnTo>
                      <a:pt x="4893691" y="16891"/>
                    </a:lnTo>
                    <a:lnTo>
                      <a:pt x="489369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D9488"/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16929" y="212001"/>
              <a:ext cx="4876800" cy="1341120"/>
              <a:chOff x="0" y="0"/>
              <a:chExt cx="4876800" cy="134112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876800" cy="1341120"/>
              </a:xfrm>
              <a:custGeom>
                <a:avLst/>
                <a:gdLst/>
                <a:ahLst/>
                <a:cxnLst/>
                <a:rect r="r" b="b" t="t" l="l"/>
                <a:pathLst>
                  <a:path h="1341120" w="48768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1341120"/>
                    </a:lnTo>
                    <a:lnTo>
                      <a:pt x="0" y="13411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0854" r="0" b="-20854"/>
                </a:stretch>
              </a:blip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114300"/>
                <a:ext cx="4876800" cy="145542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6719"/>
                  </a:lnSpc>
                </a:pPr>
                <a:r>
                  <a:rPr lang="en-US" sz="5599" b="true">
                    <a:solidFill>
                      <a:srgbClr val="0D9488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1</a:t>
                </a: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6929" y="1626273"/>
              <a:ext cx="4876800" cy="975360"/>
              <a:chOff x="0" y="0"/>
              <a:chExt cx="4876800" cy="97536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4876800" cy="975360"/>
              </a:xfrm>
              <a:custGeom>
                <a:avLst/>
                <a:gdLst/>
                <a:ahLst/>
                <a:cxnLst/>
                <a:rect r="r" b="b" t="t" l="l"/>
                <a:pathLst>
                  <a:path h="975360" w="48768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975360"/>
                    </a:lnTo>
                    <a:lnTo>
                      <a:pt x="0" y="97536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47425" r="0" b="-47425"/>
                </a:stretch>
              </a:blip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57150"/>
                <a:ext cx="4876800" cy="103251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Extract Names</a:t>
                </a: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6929" y="2650401"/>
              <a:ext cx="4876800" cy="1950720"/>
              <a:chOff x="0" y="0"/>
              <a:chExt cx="4876800" cy="195072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4876800" cy="1950720"/>
              </a:xfrm>
              <a:custGeom>
                <a:avLst/>
                <a:gdLst/>
                <a:ahLst/>
                <a:cxnLst/>
                <a:rect r="r" b="b" t="t" l="l"/>
                <a:pathLst>
                  <a:path h="1950720" w="48768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1950720"/>
                    </a:lnTo>
                    <a:lnTo>
                      <a:pt x="0" y="19507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321" t="0" r="-1321" b="0"/>
                </a:stretch>
              </a:blip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4876800" cy="198882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280"/>
                  </a:lnSpc>
                </a:pPr>
                <a:r>
                  <a:rPr lang="en-US" sz="1900">
                    <a:solidFill>
                      <a:srgbClr val="14B8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python-docx</a:t>
                </a:r>
              </a:p>
              <a:p>
                <a:pPr algn="ctr">
                  <a:lnSpc>
                    <a:spcPts val="2280"/>
                  </a:lnSpc>
                </a:pPr>
                <a:r>
                  <a:rPr lang="en-US" sz="1900">
                    <a:solidFill>
                      <a:srgbClr val="14B8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parses .docx</a:t>
                </a:r>
              </a:p>
            </p:txBody>
          </p:sp>
        </p:grpSp>
      </p:grpSp>
      <p:grpSp>
        <p:nvGrpSpPr>
          <p:cNvPr name="Group 24" id="24"/>
          <p:cNvGrpSpPr/>
          <p:nvPr/>
        </p:nvGrpSpPr>
        <p:grpSpPr>
          <a:xfrm rot="0">
            <a:off x="4170853" y="4440431"/>
            <a:ext cx="427739" cy="25403"/>
            <a:chOff x="0" y="0"/>
            <a:chExt cx="570319" cy="3387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0"/>
              <a:ext cx="536448" cy="33909"/>
            </a:xfrm>
            <a:custGeom>
              <a:avLst/>
              <a:gdLst/>
              <a:ahLst/>
              <a:cxnLst/>
              <a:rect r="r" b="b" t="t" l="l"/>
              <a:pathLst>
                <a:path h="33909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534900" y="2441453"/>
            <a:ext cx="3761746" cy="4048763"/>
            <a:chOff x="0" y="0"/>
            <a:chExt cx="5015662" cy="5398351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2455329"/>
              <a:ext cx="536448" cy="731520"/>
              <a:chOff x="0" y="0"/>
              <a:chExt cx="536448" cy="73152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536448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536448">
                    <a:moveTo>
                      <a:pt x="0" y="0"/>
                    </a:moveTo>
                    <a:lnTo>
                      <a:pt x="536448" y="0"/>
                    </a:lnTo>
                    <a:lnTo>
                      <a:pt x="536448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24959" t="0" r="-124959" b="0"/>
                </a:stretch>
              </a:blip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47625"/>
                <a:ext cx="536448" cy="77914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>
                    <a:solidFill>
                      <a:srgbClr val="0D9488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▶</a:t>
                </a: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104991" y="0"/>
              <a:ext cx="4910671" cy="5398351"/>
              <a:chOff x="0" y="0"/>
              <a:chExt cx="4910671" cy="5398351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16891" y="16891"/>
                <a:ext cx="4876800" cy="5364480"/>
              </a:xfrm>
              <a:custGeom>
                <a:avLst/>
                <a:gdLst/>
                <a:ahLst/>
                <a:cxnLst/>
                <a:rect r="r" b="b" t="t" l="l"/>
                <a:pathLst>
                  <a:path h="5364480" w="48768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5364480"/>
                    </a:lnTo>
                    <a:lnTo>
                      <a:pt x="0" y="5364480"/>
                    </a:lnTo>
                    <a:close/>
                  </a:path>
                </a:pathLst>
              </a:custGeom>
              <a:solidFill>
                <a:srgbClr val="0D1B2A"/>
              </a:solidFill>
            </p:spPr>
          </p:sp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910582" cy="5398262"/>
              </a:xfrm>
              <a:custGeom>
                <a:avLst/>
                <a:gdLst/>
                <a:ahLst/>
                <a:cxnLst/>
                <a:rect r="r" b="b" t="t" l="l"/>
                <a:pathLst>
                  <a:path h="5398262" w="4910582">
                    <a:moveTo>
                      <a:pt x="16891" y="0"/>
                    </a:moveTo>
                    <a:lnTo>
                      <a:pt x="4893691" y="0"/>
                    </a:lnTo>
                    <a:cubicBezTo>
                      <a:pt x="4903089" y="0"/>
                      <a:pt x="4910582" y="7620"/>
                      <a:pt x="4910582" y="16891"/>
                    </a:cubicBezTo>
                    <a:lnTo>
                      <a:pt x="4910582" y="5381371"/>
                    </a:lnTo>
                    <a:cubicBezTo>
                      <a:pt x="4910582" y="5390769"/>
                      <a:pt x="4902962" y="5398262"/>
                      <a:pt x="4893691" y="5398262"/>
                    </a:cubicBezTo>
                    <a:lnTo>
                      <a:pt x="16891" y="5398262"/>
                    </a:lnTo>
                    <a:cubicBezTo>
                      <a:pt x="7493" y="5398262"/>
                      <a:pt x="0" y="5390642"/>
                      <a:pt x="0" y="538137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5381371"/>
                    </a:lnTo>
                    <a:lnTo>
                      <a:pt x="16891" y="5381371"/>
                    </a:lnTo>
                    <a:lnTo>
                      <a:pt x="16891" y="5364480"/>
                    </a:lnTo>
                    <a:lnTo>
                      <a:pt x="4893691" y="5364480"/>
                    </a:lnTo>
                    <a:lnTo>
                      <a:pt x="4893691" y="5381371"/>
                    </a:lnTo>
                    <a:lnTo>
                      <a:pt x="4876800" y="5381371"/>
                    </a:lnTo>
                    <a:lnTo>
                      <a:pt x="4876800" y="16891"/>
                    </a:lnTo>
                    <a:lnTo>
                      <a:pt x="4893691" y="16891"/>
                    </a:lnTo>
                    <a:lnTo>
                      <a:pt x="489369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D1B2A"/>
              </a:solidFill>
            </p:spPr>
          </p:sp>
        </p:grpSp>
        <p:grpSp>
          <p:nvGrpSpPr>
            <p:cNvPr name="Group 33" id="33"/>
            <p:cNvGrpSpPr/>
            <p:nvPr/>
          </p:nvGrpSpPr>
          <p:grpSpPr>
            <a:xfrm rot="0">
              <a:off x="104991" y="0"/>
              <a:ext cx="4910671" cy="204559"/>
              <a:chOff x="0" y="0"/>
              <a:chExt cx="4910671" cy="204559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16891" y="16891"/>
                <a:ext cx="4876800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48768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170688"/>
                    </a:lnTo>
                    <a:lnTo>
                      <a:pt x="0" y="170688"/>
                    </a:lnTo>
                    <a:close/>
                  </a:path>
                </a:pathLst>
              </a:custGeom>
              <a:solidFill>
                <a:srgbClr val="0D9488"/>
              </a:solidFill>
            </p:spPr>
          </p:sp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910582" cy="204472"/>
              </a:xfrm>
              <a:custGeom>
                <a:avLst/>
                <a:gdLst/>
                <a:ahLst/>
                <a:cxnLst/>
                <a:rect r="r" b="b" t="t" l="l"/>
                <a:pathLst>
                  <a:path h="204472" w="4910582">
                    <a:moveTo>
                      <a:pt x="16891" y="0"/>
                    </a:moveTo>
                    <a:lnTo>
                      <a:pt x="4893691" y="0"/>
                    </a:lnTo>
                    <a:cubicBezTo>
                      <a:pt x="4903089" y="0"/>
                      <a:pt x="4910582" y="7620"/>
                      <a:pt x="4910582" y="16891"/>
                    </a:cubicBezTo>
                    <a:lnTo>
                      <a:pt x="4910582" y="187579"/>
                    </a:lnTo>
                    <a:cubicBezTo>
                      <a:pt x="4910582" y="196977"/>
                      <a:pt x="4902962" y="204470"/>
                      <a:pt x="4893691" y="204470"/>
                    </a:cubicBezTo>
                    <a:lnTo>
                      <a:pt x="16891" y="204470"/>
                    </a:lnTo>
                    <a:cubicBezTo>
                      <a:pt x="7620" y="204597"/>
                      <a:pt x="0" y="196977"/>
                      <a:pt x="0" y="18757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87579"/>
                    </a:lnTo>
                    <a:lnTo>
                      <a:pt x="16891" y="187579"/>
                    </a:lnTo>
                    <a:lnTo>
                      <a:pt x="16891" y="170688"/>
                    </a:lnTo>
                    <a:lnTo>
                      <a:pt x="4893691" y="170688"/>
                    </a:lnTo>
                    <a:lnTo>
                      <a:pt x="4893691" y="187579"/>
                    </a:lnTo>
                    <a:lnTo>
                      <a:pt x="4876800" y="187579"/>
                    </a:lnTo>
                    <a:lnTo>
                      <a:pt x="4876800" y="16891"/>
                    </a:lnTo>
                    <a:lnTo>
                      <a:pt x="4893691" y="16891"/>
                    </a:lnTo>
                    <a:lnTo>
                      <a:pt x="489369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D9488"/>
              </a:solidFill>
            </p:spPr>
          </p:sp>
        </p:grpSp>
        <p:grpSp>
          <p:nvGrpSpPr>
            <p:cNvPr name="Group 36" id="36"/>
            <p:cNvGrpSpPr/>
            <p:nvPr/>
          </p:nvGrpSpPr>
          <p:grpSpPr>
            <a:xfrm rot="0">
              <a:off x="121920" y="212001"/>
              <a:ext cx="4876800" cy="1498402"/>
              <a:chOff x="0" y="0"/>
              <a:chExt cx="4876800" cy="1498402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4876800" cy="1498402"/>
              </a:xfrm>
              <a:custGeom>
                <a:avLst/>
                <a:gdLst/>
                <a:ahLst/>
                <a:cxnLst/>
                <a:rect r="r" b="b" t="t" l="l"/>
                <a:pathLst>
                  <a:path h="1498402" w="48768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1498402"/>
                    </a:lnTo>
                    <a:lnTo>
                      <a:pt x="0" y="149840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8665" r="0" b="-8169"/>
                </a:stretch>
              </a:blip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114300"/>
                <a:ext cx="4876800" cy="16127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6719"/>
                  </a:lnSpc>
                </a:pPr>
                <a:r>
                  <a:rPr lang="en-US" sz="5599" b="true">
                    <a:solidFill>
                      <a:srgbClr val="0D9488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3</a:t>
                </a: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121920" y="1626273"/>
              <a:ext cx="4876800" cy="975360"/>
              <a:chOff x="0" y="0"/>
              <a:chExt cx="4876800" cy="97536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4876800" cy="975360"/>
              </a:xfrm>
              <a:custGeom>
                <a:avLst/>
                <a:gdLst/>
                <a:ahLst/>
                <a:cxnLst/>
                <a:rect r="r" b="b" t="t" l="l"/>
                <a:pathLst>
                  <a:path h="975360" w="48768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975360"/>
                    </a:lnTo>
                    <a:lnTo>
                      <a:pt x="0" y="97536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47425" r="0" b="-47425"/>
                </a:stretch>
              </a:blip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57150"/>
                <a:ext cx="4876800" cy="103251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Verify Data</a:t>
                </a:r>
              </a:p>
            </p:txBody>
          </p:sp>
        </p:grpSp>
      </p:grpSp>
      <p:grpSp>
        <p:nvGrpSpPr>
          <p:cNvPr name="Group 42" id="42"/>
          <p:cNvGrpSpPr/>
          <p:nvPr/>
        </p:nvGrpSpPr>
        <p:grpSpPr>
          <a:xfrm rot="0">
            <a:off x="8146469" y="4415028"/>
            <a:ext cx="427739" cy="25403"/>
            <a:chOff x="0" y="0"/>
            <a:chExt cx="570319" cy="3387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6891" y="0"/>
              <a:ext cx="536448" cy="33909"/>
            </a:xfrm>
            <a:custGeom>
              <a:avLst/>
              <a:gdLst/>
              <a:ahLst/>
              <a:cxnLst/>
              <a:rect r="r" b="b" t="t" l="l"/>
              <a:pathLst>
                <a:path h="33909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898622" y="2075698"/>
            <a:ext cx="4840738" cy="4414518"/>
            <a:chOff x="0" y="0"/>
            <a:chExt cx="6454318" cy="5886025"/>
          </a:xfrm>
        </p:grpSpPr>
        <p:grpSp>
          <p:nvGrpSpPr>
            <p:cNvPr name="Group 45" id="45"/>
            <p:cNvGrpSpPr/>
            <p:nvPr/>
          </p:nvGrpSpPr>
          <p:grpSpPr>
            <a:xfrm rot="0">
              <a:off x="0" y="487674"/>
              <a:ext cx="4910671" cy="5398351"/>
              <a:chOff x="0" y="0"/>
              <a:chExt cx="4910671" cy="5398351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16891" y="16891"/>
                <a:ext cx="4876800" cy="5364480"/>
              </a:xfrm>
              <a:custGeom>
                <a:avLst/>
                <a:gdLst/>
                <a:ahLst/>
                <a:cxnLst/>
                <a:rect r="r" b="b" t="t" l="l"/>
                <a:pathLst>
                  <a:path h="5364480" w="48768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5364480"/>
                    </a:lnTo>
                    <a:lnTo>
                      <a:pt x="0" y="5364480"/>
                    </a:lnTo>
                    <a:close/>
                  </a:path>
                </a:pathLst>
              </a:custGeom>
              <a:solidFill>
                <a:srgbClr val="0D1B2A"/>
              </a:solidFill>
            </p:spPr>
          </p:sp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4910582" cy="5398262"/>
              </a:xfrm>
              <a:custGeom>
                <a:avLst/>
                <a:gdLst/>
                <a:ahLst/>
                <a:cxnLst/>
                <a:rect r="r" b="b" t="t" l="l"/>
                <a:pathLst>
                  <a:path h="5398262" w="4910582">
                    <a:moveTo>
                      <a:pt x="16891" y="0"/>
                    </a:moveTo>
                    <a:lnTo>
                      <a:pt x="4893691" y="0"/>
                    </a:lnTo>
                    <a:cubicBezTo>
                      <a:pt x="4903089" y="0"/>
                      <a:pt x="4910582" y="7620"/>
                      <a:pt x="4910582" y="16891"/>
                    </a:cubicBezTo>
                    <a:lnTo>
                      <a:pt x="4910582" y="5381371"/>
                    </a:lnTo>
                    <a:cubicBezTo>
                      <a:pt x="4910582" y="5390769"/>
                      <a:pt x="4902962" y="5398262"/>
                      <a:pt x="4893691" y="5398262"/>
                    </a:cubicBezTo>
                    <a:lnTo>
                      <a:pt x="16891" y="5398262"/>
                    </a:lnTo>
                    <a:cubicBezTo>
                      <a:pt x="7493" y="5398262"/>
                      <a:pt x="0" y="5390642"/>
                      <a:pt x="0" y="538137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5381371"/>
                    </a:lnTo>
                    <a:lnTo>
                      <a:pt x="16891" y="5381371"/>
                    </a:lnTo>
                    <a:lnTo>
                      <a:pt x="16891" y="5364480"/>
                    </a:lnTo>
                    <a:lnTo>
                      <a:pt x="4893691" y="5364480"/>
                    </a:lnTo>
                    <a:lnTo>
                      <a:pt x="4893691" y="5381371"/>
                    </a:lnTo>
                    <a:lnTo>
                      <a:pt x="4876800" y="5381371"/>
                    </a:lnTo>
                    <a:lnTo>
                      <a:pt x="4876800" y="16891"/>
                    </a:lnTo>
                    <a:lnTo>
                      <a:pt x="4893691" y="16891"/>
                    </a:lnTo>
                    <a:lnTo>
                      <a:pt x="489369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D1B2A"/>
              </a:solidFill>
            </p:spPr>
          </p:sp>
        </p:grpSp>
        <p:grpSp>
          <p:nvGrpSpPr>
            <p:cNvPr name="Group 48" id="48"/>
            <p:cNvGrpSpPr/>
            <p:nvPr/>
          </p:nvGrpSpPr>
          <p:grpSpPr>
            <a:xfrm rot="0">
              <a:off x="0" y="487674"/>
              <a:ext cx="4910671" cy="204559"/>
              <a:chOff x="0" y="0"/>
              <a:chExt cx="4910671" cy="204559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16891" y="16891"/>
                <a:ext cx="4876800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48768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170688"/>
                    </a:lnTo>
                    <a:lnTo>
                      <a:pt x="0" y="170688"/>
                    </a:lnTo>
                    <a:close/>
                  </a:path>
                </a:pathLst>
              </a:custGeom>
              <a:solidFill>
                <a:srgbClr val="0D9488"/>
              </a:solidFill>
            </p:spPr>
          </p:sp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4910582" cy="204472"/>
              </a:xfrm>
              <a:custGeom>
                <a:avLst/>
                <a:gdLst/>
                <a:ahLst/>
                <a:cxnLst/>
                <a:rect r="r" b="b" t="t" l="l"/>
                <a:pathLst>
                  <a:path h="204472" w="4910582">
                    <a:moveTo>
                      <a:pt x="16891" y="0"/>
                    </a:moveTo>
                    <a:lnTo>
                      <a:pt x="4893691" y="0"/>
                    </a:lnTo>
                    <a:cubicBezTo>
                      <a:pt x="4903089" y="0"/>
                      <a:pt x="4910582" y="7620"/>
                      <a:pt x="4910582" y="16891"/>
                    </a:cubicBezTo>
                    <a:lnTo>
                      <a:pt x="4910582" y="187579"/>
                    </a:lnTo>
                    <a:cubicBezTo>
                      <a:pt x="4910582" y="196977"/>
                      <a:pt x="4902962" y="204470"/>
                      <a:pt x="4893691" y="204470"/>
                    </a:cubicBezTo>
                    <a:lnTo>
                      <a:pt x="16891" y="204470"/>
                    </a:lnTo>
                    <a:cubicBezTo>
                      <a:pt x="7620" y="204597"/>
                      <a:pt x="0" y="196977"/>
                      <a:pt x="0" y="18757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87579"/>
                    </a:lnTo>
                    <a:lnTo>
                      <a:pt x="16891" y="187579"/>
                    </a:lnTo>
                    <a:lnTo>
                      <a:pt x="16891" y="170688"/>
                    </a:lnTo>
                    <a:lnTo>
                      <a:pt x="4893691" y="170688"/>
                    </a:lnTo>
                    <a:lnTo>
                      <a:pt x="4893691" y="187579"/>
                    </a:lnTo>
                    <a:lnTo>
                      <a:pt x="4876800" y="187579"/>
                    </a:lnTo>
                    <a:lnTo>
                      <a:pt x="4876800" y="16891"/>
                    </a:lnTo>
                    <a:lnTo>
                      <a:pt x="4893691" y="16891"/>
                    </a:lnTo>
                    <a:lnTo>
                      <a:pt x="489369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D9488"/>
              </a:solidFill>
            </p:spPr>
          </p:sp>
        </p:grpSp>
        <p:grpSp>
          <p:nvGrpSpPr>
            <p:cNvPr name="Group 51" id="51"/>
            <p:cNvGrpSpPr/>
            <p:nvPr/>
          </p:nvGrpSpPr>
          <p:grpSpPr>
            <a:xfrm rot="0">
              <a:off x="16929" y="699675"/>
              <a:ext cx="4876800" cy="1498402"/>
              <a:chOff x="0" y="0"/>
              <a:chExt cx="4876800" cy="1498402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4876800" cy="1498402"/>
              </a:xfrm>
              <a:custGeom>
                <a:avLst/>
                <a:gdLst/>
                <a:ahLst/>
                <a:cxnLst/>
                <a:rect r="r" b="b" t="t" l="l"/>
                <a:pathLst>
                  <a:path h="1498402" w="48768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1498402"/>
                    </a:lnTo>
                    <a:lnTo>
                      <a:pt x="0" y="149840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8665" r="0" b="-8169"/>
                </a:stretch>
              </a:blip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114300"/>
                <a:ext cx="4876800" cy="16127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6719"/>
                  </a:lnSpc>
                </a:pPr>
                <a:r>
                  <a:rPr lang="en-US" sz="5599" b="true">
                    <a:solidFill>
                      <a:srgbClr val="0D9488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4</a:t>
                </a: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16929" y="2113947"/>
              <a:ext cx="4876800" cy="975360"/>
              <a:chOff x="0" y="0"/>
              <a:chExt cx="4876800" cy="975360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4876800" cy="975360"/>
              </a:xfrm>
              <a:custGeom>
                <a:avLst/>
                <a:gdLst/>
                <a:ahLst/>
                <a:cxnLst/>
                <a:rect r="r" b="b" t="t" l="l"/>
                <a:pathLst>
                  <a:path h="975360" w="48768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975360"/>
                    </a:lnTo>
                    <a:lnTo>
                      <a:pt x="0" y="97536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47425" r="0" b="-47425"/>
                </a:stretch>
              </a:blip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57150"/>
                <a:ext cx="4876800" cy="103251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Clean Data</a:t>
                </a: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16929" y="3138075"/>
              <a:ext cx="4876800" cy="1950720"/>
              <a:chOff x="0" y="0"/>
              <a:chExt cx="4876800" cy="1950720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4876800" cy="1950720"/>
              </a:xfrm>
              <a:custGeom>
                <a:avLst/>
                <a:gdLst/>
                <a:ahLst/>
                <a:cxnLst/>
                <a:rect r="r" b="b" t="t" l="l"/>
                <a:pathLst>
                  <a:path h="1950720" w="48768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1950720"/>
                    </a:lnTo>
                    <a:lnTo>
                      <a:pt x="0" y="19507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321" t="0" r="-1321" b="0"/>
                </a:stretch>
              </a:blip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-38100"/>
                <a:ext cx="4876800" cy="198882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280"/>
                  </a:lnSpc>
                </a:pPr>
                <a:r>
                  <a:rPr lang="en-US" sz="1900">
                    <a:solidFill>
                      <a:srgbClr val="14B8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clean_firms.py</a:t>
                </a:r>
              </a:p>
              <a:p>
                <a:pPr algn="ctr">
                  <a:lnSpc>
                    <a:spcPts val="2280"/>
                  </a:lnSpc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1543647" y="0"/>
              <a:ext cx="4910671" cy="204559"/>
              <a:chOff x="0" y="0"/>
              <a:chExt cx="4910671" cy="204559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16891" y="16891"/>
                <a:ext cx="4876800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48768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170688"/>
                    </a:lnTo>
                    <a:lnTo>
                      <a:pt x="0" y="170688"/>
                    </a:lnTo>
                    <a:close/>
                  </a:path>
                </a:pathLst>
              </a:custGeom>
              <a:solidFill>
                <a:srgbClr val="14B8A6"/>
              </a:solidFill>
            </p:spPr>
          </p:sp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4910582" cy="204472"/>
              </a:xfrm>
              <a:custGeom>
                <a:avLst/>
                <a:gdLst/>
                <a:ahLst/>
                <a:cxnLst/>
                <a:rect r="r" b="b" t="t" l="l"/>
                <a:pathLst>
                  <a:path h="204472" w="4910582">
                    <a:moveTo>
                      <a:pt x="16891" y="0"/>
                    </a:moveTo>
                    <a:lnTo>
                      <a:pt x="4893691" y="0"/>
                    </a:lnTo>
                    <a:cubicBezTo>
                      <a:pt x="4903089" y="0"/>
                      <a:pt x="4910582" y="7620"/>
                      <a:pt x="4910582" y="16891"/>
                    </a:cubicBezTo>
                    <a:lnTo>
                      <a:pt x="4910582" y="187579"/>
                    </a:lnTo>
                    <a:cubicBezTo>
                      <a:pt x="4910582" y="196977"/>
                      <a:pt x="4902962" y="204470"/>
                      <a:pt x="4893691" y="204470"/>
                    </a:cubicBezTo>
                    <a:lnTo>
                      <a:pt x="16891" y="204470"/>
                    </a:lnTo>
                    <a:cubicBezTo>
                      <a:pt x="7620" y="204597"/>
                      <a:pt x="0" y="196977"/>
                      <a:pt x="0" y="18757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87579"/>
                    </a:lnTo>
                    <a:lnTo>
                      <a:pt x="16891" y="187579"/>
                    </a:lnTo>
                    <a:lnTo>
                      <a:pt x="16891" y="170688"/>
                    </a:lnTo>
                    <a:lnTo>
                      <a:pt x="4893691" y="170688"/>
                    </a:lnTo>
                    <a:lnTo>
                      <a:pt x="4893691" y="187579"/>
                    </a:lnTo>
                    <a:lnTo>
                      <a:pt x="4876800" y="187579"/>
                    </a:lnTo>
                    <a:lnTo>
                      <a:pt x="4876800" y="16891"/>
                    </a:lnTo>
                    <a:lnTo>
                      <a:pt x="4893691" y="16891"/>
                    </a:lnTo>
                    <a:lnTo>
                      <a:pt x="489369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4B8A6"/>
              </a:solidFill>
            </p:spPr>
          </p:sp>
        </p:grpSp>
      </p:grpSp>
      <p:grpSp>
        <p:nvGrpSpPr>
          <p:cNvPr name="Group 63" id="63"/>
          <p:cNvGrpSpPr/>
          <p:nvPr/>
        </p:nvGrpSpPr>
        <p:grpSpPr>
          <a:xfrm rot="0">
            <a:off x="901700" y="6779262"/>
            <a:ext cx="16459200" cy="640080"/>
            <a:chOff x="0" y="0"/>
            <a:chExt cx="21945600" cy="8534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219456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Tool Evaluation</a:t>
              </a:r>
            </a:p>
          </p:txBody>
        </p:sp>
      </p:grpSp>
      <p:graphicFrame>
        <p:nvGraphicFramePr>
          <p:cNvPr name="Table 66" id="66"/>
          <p:cNvGraphicFramePr>
            <a:graphicFrameLocks noGrp="true"/>
          </p:cNvGraphicFramePr>
          <p:nvPr/>
        </p:nvGraphicFramePr>
        <p:xfrm>
          <a:off x="825500" y="7476492"/>
          <a:ext cx="16433800" cy="2874962"/>
        </p:xfrm>
        <a:graphic>
          <a:graphicData uri="http://schemas.openxmlformats.org/drawingml/2006/table">
            <a:tbl>
              <a:tblPr/>
              <a:tblGrid>
                <a:gridCol w="4017711"/>
                <a:gridCol w="2928846"/>
                <a:gridCol w="6376919"/>
                <a:gridCol w="3110323"/>
              </a:tblGrid>
              <a:tr h="5730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Source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Key Fields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Status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5730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33415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Dun &amp; Bradstreet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33415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Paid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33415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SIC, revenue, credit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33415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⏳ Awaiting access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730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33415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Crunchbase Premium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33415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Client owns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33415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Funding, description, founded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33415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✅ Use List export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730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33415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OpenCorporates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33415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Free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33415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Registration, address, legal form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33415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✅ EU/UK entities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8263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67" id="67"/>
          <p:cNvGrpSpPr/>
          <p:nvPr/>
        </p:nvGrpSpPr>
        <p:grpSpPr>
          <a:xfrm rot="0">
            <a:off x="-12697" y="9716519"/>
            <a:ext cx="18313403" cy="583187"/>
            <a:chOff x="0" y="0"/>
            <a:chExt cx="24417871" cy="777583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16891" y="16891"/>
              <a:ext cx="24383999" cy="743712"/>
            </a:xfrm>
            <a:custGeom>
              <a:avLst/>
              <a:gdLst/>
              <a:ahLst/>
              <a:cxnLst/>
              <a:rect r="r" b="b" t="t" l="l"/>
              <a:pathLst>
                <a:path h="74371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743712"/>
                  </a:lnTo>
                  <a:lnTo>
                    <a:pt x="0" y="743712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4417782" cy="777496"/>
            </a:xfrm>
            <a:custGeom>
              <a:avLst/>
              <a:gdLst/>
              <a:ahLst/>
              <a:cxnLst/>
              <a:rect r="r" b="b" t="t" l="l"/>
              <a:pathLst>
                <a:path h="77749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760603"/>
                  </a:lnTo>
                  <a:cubicBezTo>
                    <a:pt x="24417782" y="770001"/>
                    <a:pt x="24410163" y="777494"/>
                    <a:pt x="24400890" y="777494"/>
                  </a:cubicBezTo>
                  <a:lnTo>
                    <a:pt x="16891" y="777494"/>
                  </a:lnTo>
                  <a:cubicBezTo>
                    <a:pt x="7620" y="777621"/>
                    <a:pt x="0" y="770001"/>
                    <a:pt x="0" y="7606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60603"/>
                  </a:lnTo>
                  <a:lnTo>
                    <a:pt x="16891" y="760603"/>
                  </a:lnTo>
                  <a:lnTo>
                    <a:pt x="16891" y="743712"/>
                  </a:lnTo>
                  <a:lnTo>
                    <a:pt x="24400890" y="743712"/>
                  </a:lnTo>
                  <a:lnTo>
                    <a:pt x="24400890" y="760603"/>
                  </a:lnTo>
                  <a:lnTo>
                    <a:pt x="24384000" y="7606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6459200" y="9747504"/>
            <a:ext cx="1280160" cy="493776"/>
            <a:chOff x="0" y="0"/>
            <a:chExt cx="1706880" cy="65836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706880" cy="658368"/>
            </a:xfrm>
            <a:custGeom>
              <a:avLst/>
              <a:gdLst/>
              <a:ahLst/>
              <a:cxnLst/>
              <a:rect r="r" b="b" t="t" l="l"/>
              <a:pathLst>
                <a:path h="65836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6" r="0" b="-516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170688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 / 9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384723" y="2416050"/>
            <a:ext cx="7931607" cy="4048763"/>
            <a:chOff x="0" y="0"/>
            <a:chExt cx="10575475" cy="5398351"/>
          </a:xfrm>
        </p:grpSpPr>
        <p:grpSp>
          <p:nvGrpSpPr>
            <p:cNvPr name="Group 74" id="74"/>
            <p:cNvGrpSpPr/>
            <p:nvPr/>
          </p:nvGrpSpPr>
          <p:grpSpPr>
            <a:xfrm rot="0">
              <a:off x="0" y="2455329"/>
              <a:ext cx="536448" cy="731520"/>
              <a:chOff x="0" y="0"/>
              <a:chExt cx="536448" cy="731520"/>
            </a:xfrm>
          </p:grpSpPr>
          <p:sp>
            <p:nvSpPr>
              <p:cNvPr name="Freeform 75" id="75"/>
              <p:cNvSpPr/>
              <p:nvPr/>
            </p:nvSpPr>
            <p:spPr>
              <a:xfrm flipH="false" flipV="false" rot="0">
                <a:off x="0" y="0"/>
                <a:ext cx="536448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536448">
                    <a:moveTo>
                      <a:pt x="0" y="0"/>
                    </a:moveTo>
                    <a:lnTo>
                      <a:pt x="536448" y="0"/>
                    </a:lnTo>
                    <a:lnTo>
                      <a:pt x="536448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24959" t="0" r="-124959" b="0"/>
                </a:stretch>
              </a:blipFill>
            </p:spPr>
          </p:sp>
          <p:sp>
            <p:nvSpPr>
              <p:cNvPr name="TextBox 76" id="76"/>
              <p:cNvSpPr txBox="true"/>
              <p:nvPr/>
            </p:nvSpPr>
            <p:spPr>
              <a:xfrm>
                <a:off x="0" y="-47625"/>
                <a:ext cx="536448" cy="77914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>
                    <a:solidFill>
                      <a:srgbClr val="0D9488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▶</a:t>
                </a:r>
              </a:p>
            </p:txBody>
          </p:sp>
        </p:grpSp>
        <p:grpSp>
          <p:nvGrpSpPr>
            <p:cNvPr name="Group 77" id="77"/>
            <p:cNvGrpSpPr/>
            <p:nvPr/>
          </p:nvGrpSpPr>
          <p:grpSpPr>
            <a:xfrm rot="0">
              <a:off x="104991" y="0"/>
              <a:ext cx="4910671" cy="5398351"/>
              <a:chOff x="0" y="0"/>
              <a:chExt cx="4910671" cy="5398351"/>
            </a:xfrm>
          </p:grpSpPr>
          <p:sp>
            <p:nvSpPr>
              <p:cNvPr name="Freeform 78" id="78"/>
              <p:cNvSpPr/>
              <p:nvPr/>
            </p:nvSpPr>
            <p:spPr>
              <a:xfrm flipH="false" flipV="false" rot="0">
                <a:off x="16891" y="16891"/>
                <a:ext cx="4876800" cy="5364480"/>
              </a:xfrm>
              <a:custGeom>
                <a:avLst/>
                <a:gdLst/>
                <a:ahLst/>
                <a:cxnLst/>
                <a:rect r="r" b="b" t="t" l="l"/>
                <a:pathLst>
                  <a:path h="5364480" w="48768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5364480"/>
                    </a:lnTo>
                    <a:lnTo>
                      <a:pt x="0" y="5364480"/>
                    </a:lnTo>
                    <a:close/>
                  </a:path>
                </a:pathLst>
              </a:custGeom>
              <a:solidFill>
                <a:srgbClr val="0D1B2A"/>
              </a:solidFill>
            </p:spPr>
          </p:sp>
          <p:sp>
            <p:nvSpPr>
              <p:cNvPr name="Freeform 79" id="79"/>
              <p:cNvSpPr/>
              <p:nvPr/>
            </p:nvSpPr>
            <p:spPr>
              <a:xfrm flipH="false" flipV="false" rot="0">
                <a:off x="0" y="0"/>
                <a:ext cx="4910582" cy="5398262"/>
              </a:xfrm>
              <a:custGeom>
                <a:avLst/>
                <a:gdLst/>
                <a:ahLst/>
                <a:cxnLst/>
                <a:rect r="r" b="b" t="t" l="l"/>
                <a:pathLst>
                  <a:path h="5398262" w="4910582">
                    <a:moveTo>
                      <a:pt x="16891" y="0"/>
                    </a:moveTo>
                    <a:lnTo>
                      <a:pt x="4893691" y="0"/>
                    </a:lnTo>
                    <a:cubicBezTo>
                      <a:pt x="4903089" y="0"/>
                      <a:pt x="4910582" y="7620"/>
                      <a:pt x="4910582" y="16891"/>
                    </a:cubicBezTo>
                    <a:lnTo>
                      <a:pt x="4910582" y="5381371"/>
                    </a:lnTo>
                    <a:cubicBezTo>
                      <a:pt x="4910582" y="5390769"/>
                      <a:pt x="4902962" y="5398262"/>
                      <a:pt x="4893691" y="5398262"/>
                    </a:cubicBezTo>
                    <a:lnTo>
                      <a:pt x="16891" y="5398262"/>
                    </a:lnTo>
                    <a:cubicBezTo>
                      <a:pt x="7493" y="5398262"/>
                      <a:pt x="0" y="5390642"/>
                      <a:pt x="0" y="538137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5381371"/>
                    </a:lnTo>
                    <a:lnTo>
                      <a:pt x="16891" y="5381371"/>
                    </a:lnTo>
                    <a:lnTo>
                      <a:pt x="16891" y="5364480"/>
                    </a:lnTo>
                    <a:lnTo>
                      <a:pt x="4893691" y="5364480"/>
                    </a:lnTo>
                    <a:lnTo>
                      <a:pt x="4893691" y="5381371"/>
                    </a:lnTo>
                    <a:lnTo>
                      <a:pt x="4876800" y="5381371"/>
                    </a:lnTo>
                    <a:lnTo>
                      <a:pt x="4876800" y="16891"/>
                    </a:lnTo>
                    <a:lnTo>
                      <a:pt x="4893691" y="16891"/>
                    </a:lnTo>
                    <a:lnTo>
                      <a:pt x="489369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D1B2A"/>
              </a:solidFill>
            </p:spPr>
          </p:sp>
        </p:grpSp>
        <p:grpSp>
          <p:nvGrpSpPr>
            <p:cNvPr name="Group 80" id="80"/>
            <p:cNvGrpSpPr/>
            <p:nvPr/>
          </p:nvGrpSpPr>
          <p:grpSpPr>
            <a:xfrm rot="0">
              <a:off x="104991" y="0"/>
              <a:ext cx="4910671" cy="204559"/>
              <a:chOff x="0" y="0"/>
              <a:chExt cx="4910671" cy="204559"/>
            </a:xfrm>
          </p:grpSpPr>
          <p:sp>
            <p:nvSpPr>
              <p:cNvPr name="Freeform 81" id="81"/>
              <p:cNvSpPr/>
              <p:nvPr/>
            </p:nvSpPr>
            <p:spPr>
              <a:xfrm flipH="false" flipV="false" rot="0">
                <a:off x="16891" y="16891"/>
                <a:ext cx="4876800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48768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170688"/>
                    </a:lnTo>
                    <a:lnTo>
                      <a:pt x="0" y="170688"/>
                    </a:lnTo>
                    <a:close/>
                  </a:path>
                </a:pathLst>
              </a:custGeom>
              <a:solidFill>
                <a:srgbClr val="0D9488"/>
              </a:solidFill>
            </p:spPr>
          </p:sp>
          <p:sp>
            <p:nvSpPr>
              <p:cNvPr name="Freeform 82" id="82"/>
              <p:cNvSpPr/>
              <p:nvPr/>
            </p:nvSpPr>
            <p:spPr>
              <a:xfrm flipH="false" flipV="false" rot="0">
                <a:off x="0" y="0"/>
                <a:ext cx="4910582" cy="204472"/>
              </a:xfrm>
              <a:custGeom>
                <a:avLst/>
                <a:gdLst/>
                <a:ahLst/>
                <a:cxnLst/>
                <a:rect r="r" b="b" t="t" l="l"/>
                <a:pathLst>
                  <a:path h="204472" w="4910582">
                    <a:moveTo>
                      <a:pt x="16891" y="0"/>
                    </a:moveTo>
                    <a:lnTo>
                      <a:pt x="4893691" y="0"/>
                    </a:lnTo>
                    <a:cubicBezTo>
                      <a:pt x="4903089" y="0"/>
                      <a:pt x="4910582" y="7620"/>
                      <a:pt x="4910582" y="16891"/>
                    </a:cubicBezTo>
                    <a:lnTo>
                      <a:pt x="4910582" y="187579"/>
                    </a:lnTo>
                    <a:cubicBezTo>
                      <a:pt x="4910582" y="196977"/>
                      <a:pt x="4902962" y="204470"/>
                      <a:pt x="4893691" y="204470"/>
                    </a:cubicBezTo>
                    <a:lnTo>
                      <a:pt x="16891" y="204470"/>
                    </a:lnTo>
                    <a:cubicBezTo>
                      <a:pt x="7620" y="204597"/>
                      <a:pt x="0" y="196977"/>
                      <a:pt x="0" y="18757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87579"/>
                    </a:lnTo>
                    <a:lnTo>
                      <a:pt x="16891" y="187579"/>
                    </a:lnTo>
                    <a:lnTo>
                      <a:pt x="16891" y="170688"/>
                    </a:lnTo>
                    <a:lnTo>
                      <a:pt x="4893691" y="170688"/>
                    </a:lnTo>
                    <a:lnTo>
                      <a:pt x="4893691" y="187579"/>
                    </a:lnTo>
                    <a:lnTo>
                      <a:pt x="4876800" y="187579"/>
                    </a:lnTo>
                    <a:lnTo>
                      <a:pt x="4876800" y="16891"/>
                    </a:lnTo>
                    <a:lnTo>
                      <a:pt x="4893691" y="16891"/>
                    </a:lnTo>
                    <a:lnTo>
                      <a:pt x="489369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D9488"/>
              </a:solidFill>
            </p:spPr>
          </p:sp>
        </p:grpSp>
        <p:grpSp>
          <p:nvGrpSpPr>
            <p:cNvPr name="Group 83" id="83"/>
            <p:cNvGrpSpPr/>
            <p:nvPr/>
          </p:nvGrpSpPr>
          <p:grpSpPr>
            <a:xfrm rot="0">
              <a:off x="121920" y="212001"/>
              <a:ext cx="4876800" cy="1341120"/>
              <a:chOff x="0" y="0"/>
              <a:chExt cx="4876800" cy="1341120"/>
            </a:xfrm>
          </p:grpSpPr>
          <p:sp>
            <p:nvSpPr>
              <p:cNvPr name="Freeform 84" id="84"/>
              <p:cNvSpPr/>
              <p:nvPr/>
            </p:nvSpPr>
            <p:spPr>
              <a:xfrm flipH="false" flipV="false" rot="0">
                <a:off x="0" y="0"/>
                <a:ext cx="4876800" cy="1341120"/>
              </a:xfrm>
              <a:custGeom>
                <a:avLst/>
                <a:gdLst/>
                <a:ahLst/>
                <a:cxnLst/>
                <a:rect r="r" b="b" t="t" l="l"/>
                <a:pathLst>
                  <a:path h="1341120" w="48768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1341120"/>
                    </a:lnTo>
                    <a:lnTo>
                      <a:pt x="0" y="13411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0854" r="0" b="-20854"/>
                </a:stretch>
              </a:blipFill>
            </p:spPr>
          </p:sp>
          <p:sp>
            <p:nvSpPr>
              <p:cNvPr name="TextBox 85" id="85"/>
              <p:cNvSpPr txBox="true"/>
              <p:nvPr/>
            </p:nvSpPr>
            <p:spPr>
              <a:xfrm>
                <a:off x="0" y="-114300"/>
                <a:ext cx="4876800" cy="145542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6719"/>
                  </a:lnSpc>
                </a:pPr>
                <a:r>
                  <a:rPr lang="en-US" sz="5599" b="true">
                    <a:solidFill>
                      <a:srgbClr val="0D9488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2</a:t>
                </a:r>
              </a:p>
            </p:txBody>
          </p:sp>
        </p:grpSp>
        <p:grpSp>
          <p:nvGrpSpPr>
            <p:cNvPr name="Group 86" id="86"/>
            <p:cNvGrpSpPr/>
            <p:nvPr/>
          </p:nvGrpSpPr>
          <p:grpSpPr>
            <a:xfrm rot="0">
              <a:off x="121920" y="1626273"/>
              <a:ext cx="4876800" cy="975360"/>
              <a:chOff x="0" y="0"/>
              <a:chExt cx="4876800" cy="975360"/>
            </a:xfrm>
          </p:grpSpPr>
          <p:sp>
            <p:nvSpPr>
              <p:cNvPr name="Freeform 87" id="87"/>
              <p:cNvSpPr/>
              <p:nvPr/>
            </p:nvSpPr>
            <p:spPr>
              <a:xfrm flipH="false" flipV="false" rot="0">
                <a:off x="0" y="0"/>
                <a:ext cx="4876800" cy="975360"/>
              </a:xfrm>
              <a:custGeom>
                <a:avLst/>
                <a:gdLst/>
                <a:ahLst/>
                <a:cxnLst/>
                <a:rect r="r" b="b" t="t" l="l"/>
                <a:pathLst>
                  <a:path h="975360" w="48768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975360"/>
                    </a:lnTo>
                    <a:lnTo>
                      <a:pt x="0" y="97536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47425" r="0" b="-47425"/>
                </a:stretch>
              </a:blipFill>
            </p:spPr>
          </p:sp>
          <p:sp>
            <p:nvSpPr>
              <p:cNvPr name="TextBox 88" id="88"/>
              <p:cNvSpPr txBox="true"/>
              <p:nvPr/>
            </p:nvSpPr>
            <p:spPr>
              <a:xfrm>
                <a:off x="0" y="-57150"/>
                <a:ext cx="4876800" cy="103251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Enrich via API</a:t>
                </a:r>
              </a:p>
            </p:txBody>
          </p:sp>
        </p:grpSp>
        <p:grpSp>
          <p:nvGrpSpPr>
            <p:cNvPr name="Group 89" id="89"/>
            <p:cNvGrpSpPr/>
            <p:nvPr/>
          </p:nvGrpSpPr>
          <p:grpSpPr>
            <a:xfrm rot="0">
              <a:off x="121920" y="2650401"/>
              <a:ext cx="4876800" cy="1950720"/>
              <a:chOff x="0" y="0"/>
              <a:chExt cx="4876800" cy="1950720"/>
            </a:xfrm>
          </p:grpSpPr>
          <p:sp>
            <p:nvSpPr>
              <p:cNvPr name="Freeform 90" id="90"/>
              <p:cNvSpPr/>
              <p:nvPr/>
            </p:nvSpPr>
            <p:spPr>
              <a:xfrm flipH="false" flipV="false" rot="0">
                <a:off x="0" y="0"/>
                <a:ext cx="4876800" cy="1950720"/>
              </a:xfrm>
              <a:custGeom>
                <a:avLst/>
                <a:gdLst/>
                <a:ahLst/>
                <a:cxnLst/>
                <a:rect r="r" b="b" t="t" l="l"/>
                <a:pathLst>
                  <a:path h="1950720" w="48768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1950720"/>
                    </a:lnTo>
                    <a:lnTo>
                      <a:pt x="0" y="19507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321" t="0" r="-1321" b="0"/>
                </a:stretch>
              </a:blipFill>
            </p:spPr>
          </p:sp>
          <p:sp>
            <p:nvSpPr>
              <p:cNvPr name="TextBox 91" id="91"/>
              <p:cNvSpPr txBox="true"/>
              <p:nvPr/>
            </p:nvSpPr>
            <p:spPr>
              <a:xfrm>
                <a:off x="0" y="-38100"/>
                <a:ext cx="4876800" cy="198882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280"/>
                  </a:lnSpc>
                </a:pPr>
                <a:r>
                  <a:rPr lang="en-US" sz="1900">
                    <a:solidFill>
                      <a:srgbClr val="14B8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Apollo.io +</a:t>
                </a:r>
              </a:p>
              <a:p>
                <a:pPr algn="ctr">
                  <a:lnSpc>
                    <a:spcPts val="2280"/>
                  </a:lnSpc>
                </a:pPr>
                <a:r>
                  <a:rPr lang="en-US" sz="1900">
                    <a:solidFill>
                      <a:srgbClr val="14B8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OpenCorporates</a:t>
                </a:r>
              </a:p>
            </p:txBody>
          </p:sp>
        </p:grpSp>
        <p:grpSp>
          <p:nvGrpSpPr>
            <p:cNvPr name="Group 92" id="92"/>
            <p:cNvGrpSpPr/>
            <p:nvPr/>
          </p:nvGrpSpPr>
          <p:grpSpPr>
            <a:xfrm rot="0">
              <a:off x="5698675" y="2699175"/>
              <a:ext cx="4876800" cy="1950720"/>
              <a:chOff x="0" y="0"/>
              <a:chExt cx="4876800" cy="1950720"/>
            </a:xfrm>
          </p:grpSpPr>
          <p:sp>
            <p:nvSpPr>
              <p:cNvPr name="Freeform 93" id="93"/>
              <p:cNvSpPr/>
              <p:nvPr/>
            </p:nvSpPr>
            <p:spPr>
              <a:xfrm flipH="false" flipV="false" rot="0">
                <a:off x="0" y="0"/>
                <a:ext cx="4876800" cy="1950720"/>
              </a:xfrm>
              <a:custGeom>
                <a:avLst/>
                <a:gdLst/>
                <a:ahLst/>
                <a:cxnLst/>
                <a:rect r="r" b="b" t="t" l="l"/>
                <a:pathLst>
                  <a:path h="1950720" w="48768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1950720"/>
                    </a:lnTo>
                    <a:lnTo>
                      <a:pt x="0" y="19507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321" t="0" r="-1321" b="0"/>
                </a:stretch>
              </a:blipFill>
            </p:spPr>
          </p:sp>
          <p:sp>
            <p:nvSpPr>
              <p:cNvPr name="TextBox 94" id="94"/>
              <p:cNvSpPr txBox="true"/>
              <p:nvPr/>
            </p:nvSpPr>
            <p:spPr>
              <a:xfrm>
                <a:off x="0" y="-38100"/>
                <a:ext cx="4876800" cy="198882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280"/>
                  </a:lnSpc>
                </a:pPr>
                <a:r>
                  <a:rPr lang="en-US" sz="1900">
                    <a:solidFill>
                      <a:srgbClr val="14B8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Manual validation for companies</a:t>
                </a:r>
              </a:p>
            </p:txBody>
          </p:sp>
        </p:grpSp>
      </p:grpSp>
      <p:grpSp>
        <p:nvGrpSpPr>
          <p:cNvPr name="Group 95" id="95"/>
          <p:cNvGrpSpPr/>
          <p:nvPr/>
        </p:nvGrpSpPr>
        <p:grpSpPr>
          <a:xfrm rot="0">
            <a:off x="12296646" y="4282957"/>
            <a:ext cx="427739" cy="25403"/>
            <a:chOff x="0" y="0"/>
            <a:chExt cx="570319" cy="3387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0"/>
              <a:ext cx="536448" cy="33909"/>
            </a:xfrm>
            <a:custGeom>
              <a:avLst/>
              <a:gdLst/>
              <a:ahLst/>
              <a:cxnLst/>
              <a:rect r="r" b="b" t="t" l="l"/>
              <a:pathLst>
                <a:path h="33909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sp>
        <p:nvSpPr>
          <p:cNvPr name="Freeform 97" id="97"/>
          <p:cNvSpPr/>
          <p:nvPr/>
        </p:nvSpPr>
        <p:spPr>
          <a:xfrm flipH="false" flipV="false" rot="0">
            <a:off x="0" y="0"/>
            <a:ext cx="1364519" cy="2602808"/>
          </a:xfrm>
          <a:custGeom>
            <a:avLst/>
            <a:gdLst/>
            <a:ahLst/>
            <a:cxnLst/>
            <a:rect r="r" b="b" t="t" l="l"/>
            <a:pathLst>
              <a:path h="2602808" w="1364519">
                <a:moveTo>
                  <a:pt x="0" y="0"/>
                </a:moveTo>
                <a:lnTo>
                  <a:pt x="1364519" y="0"/>
                </a:lnTo>
                <a:lnTo>
                  <a:pt x="1364519" y="2602808"/>
                </a:lnTo>
                <a:lnTo>
                  <a:pt x="0" y="26028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14592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682240"/>
            </a:xfrm>
            <a:custGeom>
              <a:avLst/>
              <a:gdLst/>
              <a:ahLst/>
              <a:cxnLst/>
              <a:rect r="r" b="b" t="t" l="l"/>
              <a:pathLst>
                <a:path h="26822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16022"/>
            </a:xfrm>
            <a:custGeom>
              <a:avLst/>
              <a:gdLst/>
              <a:ahLst/>
              <a:cxnLst/>
              <a:rect r="r" b="b" t="t" l="l"/>
              <a:pathLst>
                <a:path h="27160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35024" y="-12697"/>
            <a:ext cx="16459200" cy="2011680"/>
            <a:chOff x="0" y="0"/>
            <a:chExt cx="21945600" cy="26822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423" r="0" b="-10942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21945600" cy="2796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Ensuring </a:t>
              </a: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Integrity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1703" y="2273303"/>
            <a:ext cx="3865883" cy="2128523"/>
            <a:chOff x="0" y="0"/>
            <a:chExt cx="5154511" cy="28380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5120640" cy="2804160"/>
            </a:xfrm>
            <a:custGeom>
              <a:avLst/>
              <a:gdLst/>
              <a:ahLst/>
              <a:cxnLst/>
              <a:rect r="r" b="b" t="t" l="l"/>
              <a:pathLst>
                <a:path h="28041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154422" cy="2837942"/>
            </a:xfrm>
            <a:custGeom>
              <a:avLst/>
              <a:gdLst/>
              <a:ahLst/>
              <a:cxnLst/>
              <a:rect r="r" b="b" t="t" l="l"/>
              <a:pathLst>
                <a:path h="2837942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2821051"/>
                  </a:lnTo>
                  <a:cubicBezTo>
                    <a:pt x="5154422" y="2830449"/>
                    <a:pt x="5146802" y="2837942"/>
                    <a:pt x="5137531" y="2837942"/>
                  </a:cubicBezTo>
                  <a:lnTo>
                    <a:pt x="16891" y="2837942"/>
                  </a:lnTo>
                  <a:cubicBezTo>
                    <a:pt x="7493" y="2837942"/>
                    <a:pt x="0" y="2830322"/>
                    <a:pt x="0" y="2821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21051"/>
                  </a:lnTo>
                  <a:lnTo>
                    <a:pt x="16891" y="2821051"/>
                  </a:lnTo>
                  <a:lnTo>
                    <a:pt x="16891" y="2804160"/>
                  </a:lnTo>
                  <a:lnTo>
                    <a:pt x="5137531" y="2804160"/>
                  </a:lnTo>
                  <a:lnTo>
                    <a:pt x="5137531" y="2821051"/>
                  </a:lnTo>
                  <a:lnTo>
                    <a:pt x="5120640" y="282105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01703" y="2273303"/>
            <a:ext cx="135131" cy="2128523"/>
            <a:chOff x="0" y="0"/>
            <a:chExt cx="180175" cy="28380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46304" cy="2804160"/>
            </a:xfrm>
            <a:custGeom>
              <a:avLst/>
              <a:gdLst/>
              <a:ahLst/>
              <a:cxnLst/>
              <a:rect r="r" b="b" t="t" l="l"/>
              <a:pathLst>
                <a:path h="28041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0086" cy="2837942"/>
            </a:xfrm>
            <a:custGeom>
              <a:avLst/>
              <a:gdLst/>
              <a:ahLst/>
              <a:cxnLst/>
              <a:rect r="r" b="b" t="t" l="l"/>
              <a:pathLst>
                <a:path h="283794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821051"/>
                  </a:lnTo>
                  <a:cubicBezTo>
                    <a:pt x="180086" y="2830449"/>
                    <a:pt x="172466" y="2837942"/>
                    <a:pt x="163195" y="2837942"/>
                  </a:cubicBezTo>
                  <a:lnTo>
                    <a:pt x="16891" y="2837942"/>
                  </a:lnTo>
                  <a:cubicBezTo>
                    <a:pt x="7493" y="2837942"/>
                    <a:pt x="0" y="2830322"/>
                    <a:pt x="0" y="2821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21051"/>
                  </a:lnTo>
                  <a:lnTo>
                    <a:pt x="16891" y="2821051"/>
                  </a:lnTo>
                  <a:lnTo>
                    <a:pt x="16891" y="2804160"/>
                  </a:lnTo>
                  <a:lnTo>
                    <a:pt x="163195" y="2804160"/>
                  </a:lnTo>
                  <a:lnTo>
                    <a:pt x="163195" y="2821051"/>
                  </a:lnTo>
                  <a:lnTo>
                    <a:pt x="146304" y="282105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43584" y="2505456"/>
            <a:ext cx="3291840" cy="1093622"/>
            <a:chOff x="0" y="0"/>
            <a:chExt cx="4389120" cy="145816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89120" cy="1458163"/>
            </a:xfrm>
            <a:custGeom>
              <a:avLst/>
              <a:gdLst/>
              <a:ahLst/>
              <a:cxnLst/>
              <a:rect r="r" b="b" t="t" l="l"/>
              <a:pathLst>
                <a:path h="1458163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458163"/>
                  </a:lnTo>
                  <a:lnTo>
                    <a:pt x="0" y="14581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50" r="0" b="-865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23825"/>
              <a:ext cx="4389120" cy="158198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592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335024" y="3461842"/>
            <a:ext cx="3108960" cy="713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companies processed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016503" y="2273303"/>
            <a:ext cx="3865883" cy="2128523"/>
            <a:chOff x="0" y="0"/>
            <a:chExt cx="5154511" cy="283803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6891" y="16891"/>
              <a:ext cx="5120640" cy="2804160"/>
            </a:xfrm>
            <a:custGeom>
              <a:avLst/>
              <a:gdLst/>
              <a:ahLst/>
              <a:cxnLst/>
              <a:rect r="r" b="b" t="t" l="l"/>
              <a:pathLst>
                <a:path h="28041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154422" cy="2837942"/>
            </a:xfrm>
            <a:custGeom>
              <a:avLst/>
              <a:gdLst/>
              <a:ahLst/>
              <a:cxnLst/>
              <a:rect r="r" b="b" t="t" l="l"/>
              <a:pathLst>
                <a:path h="2837942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2821051"/>
                  </a:lnTo>
                  <a:cubicBezTo>
                    <a:pt x="5154422" y="2830449"/>
                    <a:pt x="5146802" y="2837942"/>
                    <a:pt x="5137531" y="2837942"/>
                  </a:cubicBezTo>
                  <a:lnTo>
                    <a:pt x="16891" y="2837942"/>
                  </a:lnTo>
                  <a:cubicBezTo>
                    <a:pt x="7493" y="2837942"/>
                    <a:pt x="0" y="2830322"/>
                    <a:pt x="0" y="2821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21051"/>
                  </a:lnTo>
                  <a:lnTo>
                    <a:pt x="16891" y="2821051"/>
                  </a:lnTo>
                  <a:lnTo>
                    <a:pt x="16891" y="2804160"/>
                  </a:lnTo>
                  <a:lnTo>
                    <a:pt x="5137531" y="2804160"/>
                  </a:lnTo>
                  <a:lnTo>
                    <a:pt x="5137531" y="2821051"/>
                  </a:lnTo>
                  <a:lnTo>
                    <a:pt x="5120640" y="282105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016503" y="2273303"/>
            <a:ext cx="135131" cy="2128523"/>
            <a:chOff x="0" y="0"/>
            <a:chExt cx="180175" cy="283803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6891" y="16891"/>
              <a:ext cx="146304" cy="2804160"/>
            </a:xfrm>
            <a:custGeom>
              <a:avLst/>
              <a:gdLst/>
              <a:ahLst/>
              <a:cxnLst/>
              <a:rect r="r" b="b" t="t" l="l"/>
              <a:pathLst>
                <a:path h="28041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0086" cy="2837942"/>
            </a:xfrm>
            <a:custGeom>
              <a:avLst/>
              <a:gdLst/>
              <a:ahLst/>
              <a:cxnLst/>
              <a:rect r="r" b="b" t="t" l="l"/>
              <a:pathLst>
                <a:path h="283794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821051"/>
                  </a:lnTo>
                  <a:cubicBezTo>
                    <a:pt x="180086" y="2830449"/>
                    <a:pt x="172466" y="2837942"/>
                    <a:pt x="163195" y="2837942"/>
                  </a:cubicBezTo>
                  <a:lnTo>
                    <a:pt x="16891" y="2837942"/>
                  </a:lnTo>
                  <a:cubicBezTo>
                    <a:pt x="7493" y="2837942"/>
                    <a:pt x="0" y="2830322"/>
                    <a:pt x="0" y="2821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21051"/>
                  </a:lnTo>
                  <a:lnTo>
                    <a:pt x="16891" y="2821051"/>
                  </a:lnTo>
                  <a:lnTo>
                    <a:pt x="16891" y="2804160"/>
                  </a:lnTo>
                  <a:lnTo>
                    <a:pt x="163195" y="2804160"/>
                  </a:lnTo>
                  <a:lnTo>
                    <a:pt x="163195" y="2821051"/>
                  </a:lnTo>
                  <a:lnTo>
                    <a:pt x="146304" y="282105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358384" y="2505456"/>
            <a:ext cx="3291840" cy="1093622"/>
            <a:chOff x="0" y="0"/>
            <a:chExt cx="4389120" cy="145816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389120" cy="1458163"/>
            </a:xfrm>
            <a:custGeom>
              <a:avLst/>
              <a:gdLst/>
              <a:ahLst/>
              <a:cxnLst/>
              <a:rect r="r" b="b" t="t" l="l"/>
              <a:pathLst>
                <a:path h="1458163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458163"/>
                  </a:lnTo>
                  <a:lnTo>
                    <a:pt x="0" y="14581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50" r="0" b="-865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23825"/>
              <a:ext cx="4389120" cy="158198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78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5449824" y="3461842"/>
            <a:ext cx="3108960" cy="713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columns cleaned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131303" y="2273303"/>
            <a:ext cx="3865883" cy="2128523"/>
            <a:chOff x="0" y="0"/>
            <a:chExt cx="5154511" cy="283803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5120640" cy="2804160"/>
            </a:xfrm>
            <a:custGeom>
              <a:avLst/>
              <a:gdLst/>
              <a:ahLst/>
              <a:cxnLst/>
              <a:rect r="r" b="b" t="t" l="l"/>
              <a:pathLst>
                <a:path h="28041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154422" cy="2837942"/>
            </a:xfrm>
            <a:custGeom>
              <a:avLst/>
              <a:gdLst/>
              <a:ahLst/>
              <a:cxnLst/>
              <a:rect r="r" b="b" t="t" l="l"/>
              <a:pathLst>
                <a:path h="2837942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2821051"/>
                  </a:lnTo>
                  <a:cubicBezTo>
                    <a:pt x="5154422" y="2830449"/>
                    <a:pt x="5146802" y="2837942"/>
                    <a:pt x="5137531" y="2837942"/>
                  </a:cubicBezTo>
                  <a:lnTo>
                    <a:pt x="16891" y="2837942"/>
                  </a:lnTo>
                  <a:cubicBezTo>
                    <a:pt x="7493" y="2837942"/>
                    <a:pt x="0" y="2830322"/>
                    <a:pt x="0" y="2821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21051"/>
                  </a:lnTo>
                  <a:lnTo>
                    <a:pt x="16891" y="2821051"/>
                  </a:lnTo>
                  <a:lnTo>
                    <a:pt x="16891" y="2804160"/>
                  </a:lnTo>
                  <a:lnTo>
                    <a:pt x="5137531" y="2804160"/>
                  </a:lnTo>
                  <a:lnTo>
                    <a:pt x="5137531" y="2821051"/>
                  </a:lnTo>
                  <a:lnTo>
                    <a:pt x="5120640" y="282105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131303" y="2273303"/>
            <a:ext cx="135131" cy="2128523"/>
            <a:chOff x="0" y="0"/>
            <a:chExt cx="180175" cy="283803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146304" cy="2804160"/>
            </a:xfrm>
            <a:custGeom>
              <a:avLst/>
              <a:gdLst/>
              <a:ahLst/>
              <a:cxnLst/>
              <a:rect r="r" b="b" t="t" l="l"/>
              <a:pathLst>
                <a:path h="28041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80086" cy="2837942"/>
            </a:xfrm>
            <a:custGeom>
              <a:avLst/>
              <a:gdLst/>
              <a:ahLst/>
              <a:cxnLst/>
              <a:rect r="r" b="b" t="t" l="l"/>
              <a:pathLst>
                <a:path h="283794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821051"/>
                  </a:lnTo>
                  <a:cubicBezTo>
                    <a:pt x="180086" y="2830449"/>
                    <a:pt x="172466" y="2837942"/>
                    <a:pt x="163195" y="2837942"/>
                  </a:cubicBezTo>
                  <a:lnTo>
                    <a:pt x="16891" y="2837942"/>
                  </a:lnTo>
                  <a:cubicBezTo>
                    <a:pt x="7493" y="2837942"/>
                    <a:pt x="0" y="2830322"/>
                    <a:pt x="0" y="2821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21051"/>
                  </a:lnTo>
                  <a:lnTo>
                    <a:pt x="16891" y="2821051"/>
                  </a:lnTo>
                  <a:lnTo>
                    <a:pt x="16891" y="2804160"/>
                  </a:lnTo>
                  <a:lnTo>
                    <a:pt x="163195" y="2804160"/>
                  </a:lnTo>
                  <a:lnTo>
                    <a:pt x="163195" y="2821051"/>
                  </a:lnTo>
                  <a:lnTo>
                    <a:pt x="146304" y="282105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473184" y="2505456"/>
            <a:ext cx="3291840" cy="1093622"/>
            <a:chOff x="0" y="0"/>
            <a:chExt cx="4389120" cy="145816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389120" cy="1458163"/>
            </a:xfrm>
            <a:custGeom>
              <a:avLst/>
              <a:gdLst/>
              <a:ahLst/>
              <a:cxnLst/>
              <a:rect r="r" b="b" t="t" l="l"/>
              <a:pathLst>
                <a:path h="1458163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458163"/>
                  </a:lnTo>
                  <a:lnTo>
                    <a:pt x="0" y="14581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50" r="0" b="-865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23825"/>
              <a:ext cx="4389120" cy="158198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13,174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246103" y="2273303"/>
            <a:ext cx="3865883" cy="2128523"/>
            <a:chOff x="0" y="0"/>
            <a:chExt cx="5154511" cy="283803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5120640" cy="2804160"/>
            </a:xfrm>
            <a:custGeom>
              <a:avLst/>
              <a:gdLst/>
              <a:ahLst/>
              <a:cxnLst/>
              <a:rect r="r" b="b" t="t" l="l"/>
              <a:pathLst>
                <a:path h="28041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154422" cy="2837942"/>
            </a:xfrm>
            <a:custGeom>
              <a:avLst/>
              <a:gdLst/>
              <a:ahLst/>
              <a:cxnLst/>
              <a:rect r="r" b="b" t="t" l="l"/>
              <a:pathLst>
                <a:path h="2837942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2821051"/>
                  </a:lnTo>
                  <a:cubicBezTo>
                    <a:pt x="5154422" y="2830449"/>
                    <a:pt x="5146802" y="2837942"/>
                    <a:pt x="5137531" y="2837942"/>
                  </a:cubicBezTo>
                  <a:lnTo>
                    <a:pt x="16891" y="2837942"/>
                  </a:lnTo>
                  <a:cubicBezTo>
                    <a:pt x="7493" y="2837942"/>
                    <a:pt x="0" y="2830322"/>
                    <a:pt x="0" y="2821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21051"/>
                  </a:lnTo>
                  <a:lnTo>
                    <a:pt x="16891" y="2821051"/>
                  </a:lnTo>
                  <a:lnTo>
                    <a:pt x="16891" y="2804160"/>
                  </a:lnTo>
                  <a:lnTo>
                    <a:pt x="5137531" y="2804160"/>
                  </a:lnTo>
                  <a:lnTo>
                    <a:pt x="5137531" y="2821051"/>
                  </a:lnTo>
                  <a:lnTo>
                    <a:pt x="5120640" y="282105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3246103" y="2273303"/>
            <a:ext cx="135131" cy="2128523"/>
            <a:chOff x="0" y="0"/>
            <a:chExt cx="180175" cy="283803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6891" y="16891"/>
              <a:ext cx="146304" cy="2804160"/>
            </a:xfrm>
            <a:custGeom>
              <a:avLst/>
              <a:gdLst/>
              <a:ahLst/>
              <a:cxnLst/>
              <a:rect r="r" b="b" t="t" l="l"/>
              <a:pathLst>
                <a:path h="28041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10B981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80086" cy="2837942"/>
            </a:xfrm>
            <a:custGeom>
              <a:avLst/>
              <a:gdLst/>
              <a:ahLst/>
              <a:cxnLst/>
              <a:rect r="r" b="b" t="t" l="l"/>
              <a:pathLst>
                <a:path h="283794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821051"/>
                  </a:lnTo>
                  <a:cubicBezTo>
                    <a:pt x="180086" y="2830449"/>
                    <a:pt x="172466" y="2837942"/>
                    <a:pt x="163195" y="2837942"/>
                  </a:cubicBezTo>
                  <a:lnTo>
                    <a:pt x="16891" y="2837942"/>
                  </a:lnTo>
                  <a:cubicBezTo>
                    <a:pt x="7493" y="2837942"/>
                    <a:pt x="0" y="2830322"/>
                    <a:pt x="0" y="2821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21051"/>
                  </a:lnTo>
                  <a:lnTo>
                    <a:pt x="16891" y="2821051"/>
                  </a:lnTo>
                  <a:lnTo>
                    <a:pt x="16891" y="2804160"/>
                  </a:lnTo>
                  <a:lnTo>
                    <a:pt x="163195" y="2804160"/>
                  </a:lnTo>
                  <a:lnTo>
                    <a:pt x="163195" y="2821051"/>
                  </a:lnTo>
                  <a:lnTo>
                    <a:pt x="146304" y="282105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3587984" y="2505456"/>
            <a:ext cx="3291840" cy="1210196"/>
            <a:chOff x="0" y="0"/>
            <a:chExt cx="4389120" cy="161359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389120" cy="1613594"/>
            </a:xfrm>
            <a:custGeom>
              <a:avLst/>
              <a:gdLst/>
              <a:ahLst/>
              <a:cxnLst/>
              <a:rect r="r" b="b" t="t" l="l"/>
              <a:pathLst>
                <a:path h="1613594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613594"/>
                  </a:lnTo>
                  <a:lnTo>
                    <a:pt x="0" y="16135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17" r="0" b="181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23825"/>
              <a:ext cx="4389120" cy="173742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100%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3679424" y="3461842"/>
            <a:ext cx="310896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 Data Consistency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901703" y="4742183"/>
            <a:ext cx="5237483" cy="2256539"/>
            <a:chOff x="0" y="0"/>
            <a:chExt cx="6983311" cy="300871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6949440" cy="2974848"/>
            </a:xfrm>
            <a:custGeom>
              <a:avLst/>
              <a:gdLst/>
              <a:ahLst/>
              <a:cxnLst/>
              <a:rect r="r" b="b" t="t" l="l"/>
              <a:pathLst>
                <a:path h="297484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2974848"/>
                  </a:lnTo>
                  <a:lnTo>
                    <a:pt x="0" y="297484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983222" cy="3008630"/>
            </a:xfrm>
            <a:custGeom>
              <a:avLst/>
              <a:gdLst/>
              <a:ahLst/>
              <a:cxnLst/>
              <a:rect r="r" b="b" t="t" l="l"/>
              <a:pathLst>
                <a:path h="3008630" w="6983222">
                  <a:moveTo>
                    <a:pt x="16891" y="0"/>
                  </a:moveTo>
                  <a:lnTo>
                    <a:pt x="6966331" y="0"/>
                  </a:lnTo>
                  <a:cubicBezTo>
                    <a:pt x="6975729" y="0"/>
                    <a:pt x="6983222" y="7620"/>
                    <a:pt x="6983222" y="16891"/>
                  </a:cubicBezTo>
                  <a:lnTo>
                    <a:pt x="6983222" y="2991739"/>
                  </a:lnTo>
                  <a:cubicBezTo>
                    <a:pt x="6983222" y="3001137"/>
                    <a:pt x="6975602" y="3008630"/>
                    <a:pt x="6966331" y="3008630"/>
                  </a:cubicBezTo>
                  <a:lnTo>
                    <a:pt x="16891" y="3008630"/>
                  </a:lnTo>
                  <a:cubicBezTo>
                    <a:pt x="7493" y="3008630"/>
                    <a:pt x="0" y="3001010"/>
                    <a:pt x="0" y="29917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91739"/>
                  </a:lnTo>
                  <a:lnTo>
                    <a:pt x="16891" y="2991739"/>
                  </a:lnTo>
                  <a:lnTo>
                    <a:pt x="16891" y="2974848"/>
                  </a:lnTo>
                  <a:lnTo>
                    <a:pt x="6966331" y="2974848"/>
                  </a:lnTo>
                  <a:lnTo>
                    <a:pt x="6966331" y="2991739"/>
                  </a:lnTo>
                  <a:lnTo>
                    <a:pt x="6949440" y="2991739"/>
                  </a:lnTo>
                  <a:lnTo>
                    <a:pt x="6949440" y="16891"/>
                  </a:lnTo>
                  <a:lnTo>
                    <a:pt x="6966331" y="16891"/>
                  </a:lnTo>
                  <a:lnTo>
                    <a:pt x="6966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01703" y="4742183"/>
            <a:ext cx="5237483" cy="135131"/>
            <a:chOff x="0" y="0"/>
            <a:chExt cx="6983311" cy="18017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6949440" cy="146304"/>
            </a:xfrm>
            <a:custGeom>
              <a:avLst/>
              <a:gdLst/>
              <a:ahLst/>
              <a:cxnLst/>
              <a:rect r="r" b="b" t="t" l="l"/>
              <a:pathLst>
                <a:path h="146304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983222" cy="180088"/>
            </a:xfrm>
            <a:custGeom>
              <a:avLst/>
              <a:gdLst/>
              <a:ahLst/>
              <a:cxnLst/>
              <a:rect r="r" b="b" t="t" l="l"/>
              <a:pathLst>
                <a:path h="180088" w="6983222">
                  <a:moveTo>
                    <a:pt x="16891" y="0"/>
                  </a:moveTo>
                  <a:lnTo>
                    <a:pt x="6966331" y="0"/>
                  </a:lnTo>
                  <a:cubicBezTo>
                    <a:pt x="6975729" y="0"/>
                    <a:pt x="6983222" y="7620"/>
                    <a:pt x="6983222" y="16891"/>
                  </a:cubicBezTo>
                  <a:lnTo>
                    <a:pt x="6983222" y="163195"/>
                  </a:lnTo>
                  <a:cubicBezTo>
                    <a:pt x="6983222" y="172593"/>
                    <a:pt x="6975602" y="180086"/>
                    <a:pt x="696633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6966331" y="146304"/>
                  </a:lnTo>
                  <a:lnTo>
                    <a:pt x="6966331" y="163195"/>
                  </a:lnTo>
                  <a:lnTo>
                    <a:pt x="6949440" y="163195"/>
                  </a:lnTo>
                  <a:lnTo>
                    <a:pt x="6949440" y="16891"/>
                  </a:lnTo>
                  <a:lnTo>
                    <a:pt x="6966331" y="16891"/>
                  </a:lnTo>
                  <a:lnTo>
                    <a:pt x="6966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243584" y="4974336"/>
            <a:ext cx="4663440" cy="548640"/>
            <a:chOff x="0" y="0"/>
            <a:chExt cx="6217920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21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6217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Corrupted coordinates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1335024" y="5557647"/>
            <a:ext cx="4480560" cy="1163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Latitude/longitude had dots as thousands separators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e.g.  57.012.755  →  57.012755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6534407" y="4742183"/>
            <a:ext cx="5237483" cy="2256539"/>
            <a:chOff x="0" y="0"/>
            <a:chExt cx="6983311" cy="300871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16891" y="16891"/>
              <a:ext cx="6949440" cy="2974848"/>
            </a:xfrm>
            <a:custGeom>
              <a:avLst/>
              <a:gdLst/>
              <a:ahLst/>
              <a:cxnLst/>
              <a:rect r="r" b="b" t="t" l="l"/>
              <a:pathLst>
                <a:path h="297484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2974848"/>
                  </a:lnTo>
                  <a:lnTo>
                    <a:pt x="0" y="297484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983222" cy="3008630"/>
            </a:xfrm>
            <a:custGeom>
              <a:avLst/>
              <a:gdLst/>
              <a:ahLst/>
              <a:cxnLst/>
              <a:rect r="r" b="b" t="t" l="l"/>
              <a:pathLst>
                <a:path h="3008630" w="6983222">
                  <a:moveTo>
                    <a:pt x="16891" y="0"/>
                  </a:moveTo>
                  <a:lnTo>
                    <a:pt x="6966331" y="0"/>
                  </a:lnTo>
                  <a:cubicBezTo>
                    <a:pt x="6975729" y="0"/>
                    <a:pt x="6983222" y="7620"/>
                    <a:pt x="6983222" y="16891"/>
                  </a:cubicBezTo>
                  <a:lnTo>
                    <a:pt x="6983222" y="2991739"/>
                  </a:lnTo>
                  <a:cubicBezTo>
                    <a:pt x="6983222" y="3001137"/>
                    <a:pt x="6975602" y="3008630"/>
                    <a:pt x="6966331" y="3008630"/>
                  </a:cubicBezTo>
                  <a:lnTo>
                    <a:pt x="16891" y="3008630"/>
                  </a:lnTo>
                  <a:cubicBezTo>
                    <a:pt x="7493" y="3008630"/>
                    <a:pt x="0" y="3001010"/>
                    <a:pt x="0" y="29917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91739"/>
                  </a:lnTo>
                  <a:lnTo>
                    <a:pt x="16891" y="2991739"/>
                  </a:lnTo>
                  <a:lnTo>
                    <a:pt x="16891" y="2974848"/>
                  </a:lnTo>
                  <a:lnTo>
                    <a:pt x="6966331" y="2974848"/>
                  </a:lnTo>
                  <a:lnTo>
                    <a:pt x="6966331" y="2991739"/>
                  </a:lnTo>
                  <a:lnTo>
                    <a:pt x="6949440" y="2991739"/>
                  </a:lnTo>
                  <a:lnTo>
                    <a:pt x="6949440" y="16891"/>
                  </a:lnTo>
                  <a:lnTo>
                    <a:pt x="6966331" y="16891"/>
                  </a:lnTo>
                  <a:lnTo>
                    <a:pt x="6966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534407" y="4742183"/>
            <a:ext cx="5237483" cy="135131"/>
            <a:chOff x="0" y="0"/>
            <a:chExt cx="6983311" cy="180175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16891" y="16891"/>
              <a:ext cx="6949440" cy="146304"/>
            </a:xfrm>
            <a:custGeom>
              <a:avLst/>
              <a:gdLst/>
              <a:ahLst/>
              <a:cxnLst/>
              <a:rect r="r" b="b" t="t" l="l"/>
              <a:pathLst>
                <a:path h="146304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983222" cy="180088"/>
            </a:xfrm>
            <a:custGeom>
              <a:avLst/>
              <a:gdLst/>
              <a:ahLst/>
              <a:cxnLst/>
              <a:rect r="r" b="b" t="t" l="l"/>
              <a:pathLst>
                <a:path h="180088" w="6983222">
                  <a:moveTo>
                    <a:pt x="16891" y="0"/>
                  </a:moveTo>
                  <a:lnTo>
                    <a:pt x="6966331" y="0"/>
                  </a:lnTo>
                  <a:cubicBezTo>
                    <a:pt x="6975729" y="0"/>
                    <a:pt x="6983222" y="7620"/>
                    <a:pt x="6983222" y="16891"/>
                  </a:cubicBezTo>
                  <a:lnTo>
                    <a:pt x="6983222" y="163195"/>
                  </a:lnTo>
                  <a:cubicBezTo>
                    <a:pt x="6983222" y="172593"/>
                    <a:pt x="6975602" y="180086"/>
                    <a:pt x="696633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6966331" y="146304"/>
                  </a:lnTo>
                  <a:lnTo>
                    <a:pt x="6966331" y="163195"/>
                  </a:lnTo>
                  <a:lnTo>
                    <a:pt x="6949440" y="163195"/>
                  </a:lnTo>
                  <a:lnTo>
                    <a:pt x="6949440" y="16891"/>
                  </a:lnTo>
                  <a:lnTo>
                    <a:pt x="6966331" y="16891"/>
                  </a:lnTo>
                  <a:lnTo>
                    <a:pt x="6966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6876288" y="4974336"/>
            <a:ext cx="4663440" cy="548640"/>
            <a:chOff x="0" y="0"/>
            <a:chExt cx="6217920" cy="7315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21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6217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Broken phone numbers</a:t>
              </a: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6967728" y="5557647"/>
            <a:ext cx="4480560" cy="1163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Float conversion stripped + prefix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e.g.  4596356150.0  →  +4596356150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12167111" y="4742183"/>
            <a:ext cx="5237483" cy="2256539"/>
            <a:chOff x="0" y="0"/>
            <a:chExt cx="6983311" cy="3008719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16891" y="16891"/>
              <a:ext cx="6949440" cy="2974848"/>
            </a:xfrm>
            <a:custGeom>
              <a:avLst/>
              <a:gdLst/>
              <a:ahLst/>
              <a:cxnLst/>
              <a:rect r="r" b="b" t="t" l="l"/>
              <a:pathLst>
                <a:path h="297484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2974848"/>
                  </a:lnTo>
                  <a:lnTo>
                    <a:pt x="0" y="297484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983222" cy="3008630"/>
            </a:xfrm>
            <a:custGeom>
              <a:avLst/>
              <a:gdLst/>
              <a:ahLst/>
              <a:cxnLst/>
              <a:rect r="r" b="b" t="t" l="l"/>
              <a:pathLst>
                <a:path h="3008630" w="6983222">
                  <a:moveTo>
                    <a:pt x="16891" y="0"/>
                  </a:moveTo>
                  <a:lnTo>
                    <a:pt x="6966331" y="0"/>
                  </a:lnTo>
                  <a:cubicBezTo>
                    <a:pt x="6975729" y="0"/>
                    <a:pt x="6983222" y="7620"/>
                    <a:pt x="6983222" y="16891"/>
                  </a:cubicBezTo>
                  <a:lnTo>
                    <a:pt x="6983222" y="2991739"/>
                  </a:lnTo>
                  <a:cubicBezTo>
                    <a:pt x="6983222" y="3001137"/>
                    <a:pt x="6975602" y="3008630"/>
                    <a:pt x="6966331" y="3008630"/>
                  </a:cubicBezTo>
                  <a:lnTo>
                    <a:pt x="16891" y="3008630"/>
                  </a:lnTo>
                  <a:cubicBezTo>
                    <a:pt x="7493" y="3008630"/>
                    <a:pt x="0" y="3001010"/>
                    <a:pt x="0" y="29917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91739"/>
                  </a:lnTo>
                  <a:lnTo>
                    <a:pt x="16891" y="2991739"/>
                  </a:lnTo>
                  <a:lnTo>
                    <a:pt x="16891" y="2974848"/>
                  </a:lnTo>
                  <a:lnTo>
                    <a:pt x="6966331" y="2974848"/>
                  </a:lnTo>
                  <a:lnTo>
                    <a:pt x="6966331" y="2991739"/>
                  </a:lnTo>
                  <a:lnTo>
                    <a:pt x="6949440" y="2991739"/>
                  </a:lnTo>
                  <a:lnTo>
                    <a:pt x="6949440" y="16891"/>
                  </a:lnTo>
                  <a:lnTo>
                    <a:pt x="6966331" y="16891"/>
                  </a:lnTo>
                  <a:lnTo>
                    <a:pt x="6966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2167111" y="4742183"/>
            <a:ext cx="5237483" cy="135131"/>
            <a:chOff x="0" y="0"/>
            <a:chExt cx="6983311" cy="180175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16891" y="16891"/>
              <a:ext cx="6949440" cy="146304"/>
            </a:xfrm>
            <a:custGeom>
              <a:avLst/>
              <a:gdLst/>
              <a:ahLst/>
              <a:cxnLst/>
              <a:rect r="r" b="b" t="t" l="l"/>
              <a:pathLst>
                <a:path h="146304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983222" cy="180088"/>
            </a:xfrm>
            <a:custGeom>
              <a:avLst/>
              <a:gdLst/>
              <a:ahLst/>
              <a:cxnLst/>
              <a:rect r="r" b="b" t="t" l="l"/>
              <a:pathLst>
                <a:path h="180088" w="6983222">
                  <a:moveTo>
                    <a:pt x="16891" y="0"/>
                  </a:moveTo>
                  <a:lnTo>
                    <a:pt x="6966331" y="0"/>
                  </a:lnTo>
                  <a:cubicBezTo>
                    <a:pt x="6975729" y="0"/>
                    <a:pt x="6983222" y="7620"/>
                    <a:pt x="6983222" y="16891"/>
                  </a:cubicBezTo>
                  <a:lnTo>
                    <a:pt x="6983222" y="163195"/>
                  </a:lnTo>
                  <a:cubicBezTo>
                    <a:pt x="6983222" y="172593"/>
                    <a:pt x="6975602" y="180086"/>
                    <a:pt x="696633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6966331" y="146304"/>
                  </a:lnTo>
                  <a:lnTo>
                    <a:pt x="6966331" y="163195"/>
                  </a:lnTo>
                  <a:lnTo>
                    <a:pt x="6949440" y="163195"/>
                  </a:lnTo>
                  <a:lnTo>
                    <a:pt x="6949440" y="16891"/>
                  </a:lnTo>
                  <a:lnTo>
                    <a:pt x="6966331" y="16891"/>
                  </a:lnTo>
                  <a:lnTo>
                    <a:pt x="6966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2508992" y="4974336"/>
            <a:ext cx="4663440" cy="548640"/>
            <a:chOff x="0" y="0"/>
            <a:chExt cx="6217920" cy="73152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21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6217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Float → integer fields</a:t>
              </a: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12600432" y="5557647"/>
            <a:ext cx="4480560" cy="1163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year_founded, employee_count stored as floats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e.g.  1963.0  →  1963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901703" y="7211063"/>
            <a:ext cx="5237483" cy="2256539"/>
            <a:chOff x="0" y="0"/>
            <a:chExt cx="6983311" cy="3008719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6949440" cy="2974848"/>
            </a:xfrm>
            <a:custGeom>
              <a:avLst/>
              <a:gdLst/>
              <a:ahLst/>
              <a:cxnLst/>
              <a:rect r="r" b="b" t="t" l="l"/>
              <a:pathLst>
                <a:path h="297484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2974848"/>
                  </a:lnTo>
                  <a:lnTo>
                    <a:pt x="0" y="297484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983222" cy="3008630"/>
            </a:xfrm>
            <a:custGeom>
              <a:avLst/>
              <a:gdLst/>
              <a:ahLst/>
              <a:cxnLst/>
              <a:rect r="r" b="b" t="t" l="l"/>
              <a:pathLst>
                <a:path h="3008630" w="6983222">
                  <a:moveTo>
                    <a:pt x="16891" y="0"/>
                  </a:moveTo>
                  <a:lnTo>
                    <a:pt x="6966331" y="0"/>
                  </a:lnTo>
                  <a:cubicBezTo>
                    <a:pt x="6975729" y="0"/>
                    <a:pt x="6983222" y="7620"/>
                    <a:pt x="6983222" y="16891"/>
                  </a:cubicBezTo>
                  <a:lnTo>
                    <a:pt x="6983222" y="2991739"/>
                  </a:lnTo>
                  <a:cubicBezTo>
                    <a:pt x="6983222" y="3001137"/>
                    <a:pt x="6975602" y="3008630"/>
                    <a:pt x="6966331" y="3008630"/>
                  </a:cubicBezTo>
                  <a:lnTo>
                    <a:pt x="16891" y="3008630"/>
                  </a:lnTo>
                  <a:cubicBezTo>
                    <a:pt x="7493" y="3008630"/>
                    <a:pt x="0" y="3001010"/>
                    <a:pt x="0" y="29917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91739"/>
                  </a:lnTo>
                  <a:lnTo>
                    <a:pt x="16891" y="2991739"/>
                  </a:lnTo>
                  <a:lnTo>
                    <a:pt x="16891" y="2974848"/>
                  </a:lnTo>
                  <a:lnTo>
                    <a:pt x="6966331" y="2974848"/>
                  </a:lnTo>
                  <a:lnTo>
                    <a:pt x="6966331" y="2991739"/>
                  </a:lnTo>
                  <a:lnTo>
                    <a:pt x="6949440" y="2991739"/>
                  </a:lnTo>
                  <a:lnTo>
                    <a:pt x="6949440" y="16891"/>
                  </a:lnTo>
                  <a:lnTo>
                    <a:pt x="6966331" y="16891"/>
                  </a:lnTo>
                  <a:lnTo>
                    <a:pt x="6966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901703" y="7211063"/>
            <a:ext cx="5237483" cy="135131"/>
            <a:chOff x="0" y="0"/>
            <a:chExt cx="6983311" cy="180175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6949440" cy="146304"/>
            </a:xfrm>
            <a:custGeom>
              <a:avLst/>
              <a:gdLst/>
              <a:ahLst/>
              <a:cxnLst/>
              <a:rect r="r" b="b" t="t" l="l"/>
              <a:pathLst>
                <a:path h="146304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6983222" cy="180088"/>
            </a:xfrm>
            <a:custGeom>
              <a:avLst/>
              <a:gdLst/>
              <a:ahLst/>
              <a:cxnLst/>
              <a:rect r="r" b="b" t="t" l="l"/>
              <a:pathLst>
                <a:path h="180088" w="6983222">
                  <a:moveTo>
                    <a:pt x="16891" y="0"/>
                  </a:moveTo>
                  <a:lnTo>
                    <a:pt x="6966331" y="0"/>
                  </a:lnTo>
                  <a:cubicBezTo>
                    <a:pt x="6975729" y="0"/>
                    <a:pt x="6983222" y="7620"/>
                    <a:pt x="6983222" y="16891"/>
                  </a:cubicBezTo>
                  <a:lnTo>
                    <a:pt x="6983222" y="163195"/>
                  </a:lnTo>
                  <a:cubicBezTo>
                    <a:pt x="6983222" y="172593"/>
                    <a:pt x="6975602" y="180086"/>
                    <a:pt x="696633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6966331" y="146304"/>
                  </a:lnTo>
                  <a:lnTo>
                    <a:pt x="6966331" y="163195"/>
                  </a:lnTo>
                  <a:lnTo>
                    <a:pt x="6949440" y="163195"/>
                  </a:lnTo>
                  <a:lnTo>
                    <a:pt x="6949440" y="16891"/>
                  </a:lnTo>
                  <a:lnTo>
                    <a:pt x="6966331" y="16891"/>
                  </a:lnTo>
                  <a:lnTo>
                    <a:pt x="6966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243584" y="7443216"/>
            <a:ext cx="4663440" cy="548640"/>
            <a:chOff x="0" y="0"/>
            <a:chExt cx="6217920" cy="73152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621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6217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Revenue formatting</a:t>
              </a:r>
            </a:p>
          </p:txBody>
        </p:sp>
      </p:grpSp>
      <p:sp>
        <p:nvSpPr>
          <p:cNvPr name="TextBox 86" id="86"/>
          <p:cNvSpPr txBox="true"/>
          <p:nvPr/>
        </p:nvSpPr>
        <p:spPr>
          <a:xfrm rot="0">
            <a:off x="1335024" y="8026527"/>
            <a:ext cx="4480560" cy="1163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Raw numbers made human-readable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e.g.  28698964  →  28,698,964</a:t>
            </a:r>
          </a:p>
        </p:txBody>
      </p:sp>
      <p:grpSp>
        <p:nvGrpSpPr>
          <p:cNvPr name="Group 87" id="87"/>
          <p:cNvGrpSpPr/>
          <p:nvPr/>
        </p:nvGrpSpPr>
        <p:grpSpPr>
          <a:xfrm rot="0">
            <a:off x="6534407" y="7211063"/>
            <a:ext cx="5237483" cy="2256539"/>
            <a:chOff x="0" y="0"/>
            <a:chExt cx="6983311" cy="3008719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16891" y="16891"/>
              <a:ext cx="6949440" cy="2974848"/>
            </a:xfrm>
            <a:custGeom>
              <a:avLst/>
              <a:gdLst/>
              <a:ahLst/>
              <a:cxnLst/>
              <a:rect r="r" b="b" t="t" l="l"/>
              <a:pathLst>
                <a:path h="297484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2974848"/>
                  </a:lnTo>
                  <a:lnTo>
                    <a:pt x="0" y="297484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6983222" cy="3008630"/>
            </a:xfrm>
            <a:custGeom>
              <a:avLst/>
              <a:gdLst/>
              <a:ahLst/>
              <a:cxnLst/>
              <a:rect r="r" b="b" t="t" l="l"/>
              <a:pathLst>
                <a:path h="3008630" w="6983222">
                  <a:moveTo>
                    <a:pt x="16891" y="0"/>
                  </a:moveTo>
                  <a:lnTo>
                    <a:pt x="6966331" y="0"/>
                  </a:lnTo>
                  <a:cubicBezTo>
                    <a:pt x="6975729" y="0"/>
                    <a:pt x="6983222" y="7620"/>
                    <a:pt x="6983222" y="16891"/>
                  </a:cubicBezTo>
                  <a:lnTo>
                    <a:pt x="6983222" y="2991739"/>
                  </a:lnTo>
                  <a:cubicBezTo>
                    <a:pt x="6983222" y="3001137"/>
                    <a:pt x="6975602" y="3008630"/>
                    <a:pt x="6966331" y="3008630"/>
                  </a:cubicBezTo>
                  <a:lnTo>
                    <a:pt x="16891" y="3008630"/>
                  </a:lnTo>
                  <a:cubicBezTo>
                    <a:pt x="7493" y="3008630"/>
                    <a:pt x="0" y="3001010"/>
                    <a:pt x="0" y="29917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91739"/>
                  </a:lnTo>
                  <a:lnTo>
                    <a:pt x="16891" y="2991739"/>
                  </a:lnTo>
                  <a:lnTo>
                    <a:pt x="16891" y="2974848"/>
                  </a:lnTo>
                  <a:lnTo>
                    <a:pt x="6966331" y="2974848"/>
                  </a:lnTo>
                  <a:lnTo>
                    <a:pt x="6966331" y="2991739"/>
                  </a:lnTo>
                  <a:lnTo>
                    <a:pt x="6949440" y="2991739"/>
                  </a:lnTo>
                  <a:lnTo>
                    <a:pt x="6949440" y="16891"/>
                  </a:lnTo>
                  <a:lnTo>
                    <a:pt x="6966331" y="16891"/>
                  </a:lnTo>
                  <a:lnTo>
                    <a:pt x="6966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6534407" y="7211063"/>
            <a:ext cx="5237483" cy="135131"/>
            <a:chOff x="0" y="0"/>
            <a:chExt cx="6983311" cy="180175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16891" y="16891"/>
              <a:ext cx="6949440" cy="146304"/>
            </a:xfrm>
            <a:custGeom>
              <a:avLst/>
              <a:gdLst/>
              <a:ahLst/>
              <a:cxnLst/>
              <a:rect r="r" b="b" t="t" l="l"/>
              <a:pathLst>
                <a:path h="146304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14B8A6"/>
            </a:solidFill>
          </p:spPr>
        </p:sp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6983222" cy="180088"/>
            </a:xfrm>
            <a:custGeom>
              <a:avLst/>
              <a:gdLst/>
              <a:ahLst/>
              <a:cxnLst/>
              <a:rect r="r" b="b" t="t" l="l"/>
              <a:pathLst>
                <a:path h="180088" w="6983222">
                  <a:moveTo>
                    <a:pt x="16891" y="0"/>
                  </a:moveTo>
                  <a:lnTo>
                    <a:pt x="6966331" y="0"/>
                  </a:lnTo>
                  <a:cubicBezTo>
                    <a:pt x="6975729" y="0"/>
                    <a:pt x="6983222" y="7620"/>
                    <a:pt x="6983222" y="16891"/>
                  </a:cubicBezTo>
                  <a:lnTo>
                    <a:pt x="6983222" y="163195"/>
                  </a:lnTo>
                  <a:cubicBezTo>
                    <a:pt x="6983222" y="172593"/>
                    <a:pt x="6975602" y="180086"/>
                    <a:pt x="696633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6966331" y="146304"/>
                  </a:lnTo>
                  <a:lnTo>
                    <a:pt x="6966331" y="163195"/>
                  </a:lnTo>
                  <a:lnTo>
                    <a:pt x="6949440" y="163195"/>
                  </a:lnTo>
                  <a:lnTo>
                    <a:pt x="6949440" y="16891"/>
                  </a:lnTo>
                  <a:lnTo>
                    <a:pt x="6966331" y="16891"/>
                  </a:lnTo>
                  <a:lnTo>
                    <a:pt x="6966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6876288" y="7443216"/>
            <a:ext cx="4663440" cy="548640"/>
            <a:chOff x="0" y="0"/>
            <a:chExt cx="6217920" cy="73152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621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6217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Whitespace &amp; casing</a:t>
              </a:r>
            </a:p>
          </p:txBody>
        </p:sp>
      </p:grpSp>
      <p:sp>
        <p:nvSpPr>
          <p:cNvPr name="TextBox 96" id="96"/>
          <p:cNvSpPr txBox="true"/>
          <p:nvPr/>
        </p:nvSpPr>
        <p:spPr>
          <a:xfrm rot="0">
            <a:off x="6967728" y="8026527"/>
            <a:ext cx="4480560" cy="1163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All strings trimmed; categorical columns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uniformly title-cased</a:t>
            </a:r>
          </a:p>
        </p:txBody>
      </p:sp>
      <p:grpSp>
        <p:nvGrpSpPr>
          <p:cNvPr name="Group 97" id="97"/>
          <p:cNvGrpSpPr/>
          <p:nvPr/>
        </p:nvGrpSpPr>
        <p:grpSpPr>
          <a:xfrm rot="0">
            <a:off x="12167111" y="7211063"/>
            <a:ext cx="5237483" cy="2256539"/>
            <a:chOff x="0" y="0"/>
            <a:chExt cx="6983311" cy="3008719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16891" y="16891"/>
              <a:ext cx="6949440" cy="2974848"/>
            </a:xfrm>
            <a:custGeom>
              <a:avLst/>
              <a:gdLst/>
              <a:ahLst/>
              <a:cxnLst/>
              <a:rect r="r" b="b" t="t" l="l"/>
              <a:pathLst>
                <a:path h="297484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2974848"/>
                  </a:lnTo>
                  <a:lnTo>
                    <a:pt x="0" y="297484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983222" cy="3008630"/>
            </a:xfrm>
            <a:custGeom>
              <a:avLst/>
              <a:gdLst/>
              <a:ahLst/>
              <a:cxnLst/>
              <a:rect r="r" b="b" t="t" l="l"/>
              <a:pathLst>
                <a:path h="3008630" w="6983222">
                  <a:moveTo>
                    <a:pt x="16891" y="0"/>
                  </a:moveTo>
                  <a:lnTo>
                    <a:pt x="6966331" y="0"/>
                  </a:lnTo>
                  <a:cubicBezTo>
                    <a:pt x="6975729" y="0"/>
                    <a:pt x="6983222" y="7620"/>
                    <a:pt x="6983222" y="16891"/>
                  </a:cubicBezTo>
                  <a:lnTo>
                    <a:pt x="6983222" y="2991739"/>
                  </a:lnTo>
                  <a:cubicBezTo>
                    <a:pt x="6983222" y="3001137"/>
                    <a:pt x="6975602" y="3008630"/>
                    <a:pt x="6966331" y="3008630"/>
                  </a:cubicBezTo>
                  <a:lnTo>
                    <a:pt x="16891" y="3008630"/>
                  </a:lnTo>
                  <a:cubicBezTo>
                    <a:pt x="7493" y="3008630"/>
                    <a:pt x="0" y="3001010"/>
                    <a:pt x="0" y="29917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91739"/>
                  </a:lnTo>
                  <a:lnTo>
                    <a:pt x="16891" y="2991739"/>
                  </a:lnTo>
                  <a:lnTo>
                    <a:pt x="16891" y="2974848"/>
                  </a:lnTo>
                  <a:lnTo>
                    <a:pt x="6966331" y="2974848"/>
                  </a:lnTo>
                  <a:lnTo>
                    <a:pt x="6966331" y="2991739"/>
                  </a:lnTo>
                  <a:lnTo>
                    <a:pt x="6949440" y="2991739"/>
                  </a:lnTo>
                  <a:lnTo>
                    <a:pt x="6949440" y="16891"/>
                  </a:lnTo>
                  <a:lnTo>
                    <a:pt x="6966331" y="16891"/>
                  </a:lnTo>
                  <a:lnTo>
                    <a:pt x="6966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12167111" y="7211063"/>
            <a:ext cx="5237483" cy="135131"/>
            <a:chOff x="0" y="0"/>
            <a:chExt cx="6983311" cy="180175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16891" y="16891"/>
              <a:ext cx="6949440" cy="146304"/>
            </a:xfrm>
            <a:custGeom>
              <a:avLst/>
              <a:gdLst/>
              <a:ahLst/>
              <a:cxnLst/>
              <a:rect r="r" b="b" t="t" l="l"/>
              <a:pathLst>
                <a:path h="146304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10B981"/>
            </a:solidFill>
          </p:spPr>
        </p:sp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6983222" cy="180088"/>
            </a:xfrm>
            <a:custGeom>
              <a:avLst/>
              <a:gdLst/>
              <a:ahLst/>
              <a:cxnLst/>
              <a:rect r="r" b="b" t="t" l="l"/>
              <a:pathLst>
                <a:path h="180088" w="6983222">
                  <a:moveTo>
                    <a:pt x="16891" y="0"/>
                  </a:moveTo>
                  <a:lnTo>
                    <a:pt x="6966331" y="0"/>
                  </a:lnTo>
                  <a:cubicBezTo>
                    <a:pt x="6975729" y="0"/>
                    <a:pt x="6983222" y="7620"/>
                    <a:pt x="6983222" y="16891"/>
                  </a:cubicBezTo>
                  <a:lnTo>
                    <a:pt x="6983222" y="163195"/>
                  </a:lnTo>
                  <a:cubicBezTo>
                    <a:pt x="6983222" y="172593"/>
                    <a:pt x="6975602" y="180086"/>
                    <a:pt x="696633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6966331" y="146304"/>
                  </a:lnTo>
                  <a:lnTo>
                    <a:pt x="6966331" y="163195"/>
                  </a:lnTo>
                  <a:lnTo>
                    <a:pt x="6949440" y="163195"/>
                  </a:lnTo>
                  <a:lnTo>
                    <a:pt x="6949440" y="16891"/>
                  </a:lnTo>
                  <a:lnTo>
                    <a:pt x="6966331" y="16891"/>
                  </a:lnTo>
                  <a:lnTo>
                    <a:pt x="6966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12508992" y="7443216"/>
            <a:ext cx="4663440" cy="548640"/>
            <a:chOff x="0" y="0"/>
            <a:chExt cx="6217920" cy="73152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621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6217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Empty cell standard</a:t>
              </a:r>
            </a:p>
          </p:txBody>
        </p:sp>
      </p:grpSp>
      <p:sp>
        <p:nvSpPr>
          <p:cNvPr name="TextBox 106" id="106"/>
          <p:cNvSpPr txBox="true"/>
          <p:nvPr/>
        </p:nvSpPr>
        <p:spPr>
          <a:xfrm rot="0">
            <a:off x="12600432" y="8026527"/>
            <a:ext cx="4480560" cy="1163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All NaN / null / blank values replaced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with consistent '-' placeholder</a:t>
            </a:r>
          </a:p>
        </p:txBody>
      </p:sp>
      <p:grpSp>
        <p:nvGrpSpPr>
          <p:cNvPr name="Group 107" id="107"/>
          <p:cNvGrpSpPr/>
          <p:nvPr/>
        </p:nvGrpSpPr>
        <p:grpSpPr>
          <a:xfrm rot="0">
            <a:off x="-12697" y="9716519"/>
            <a:ext cx="18313403" cy="583187"/>
            <a:chOff x="0" y="0"/>
            <a:chExt cx="24417871" cy="777583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6891" y="16891"/>
              <a:ext cx="24383999" cy="743712"/>
            </a:xfrm>
            <a:custGeom>
              <a:avLst/>
              <a:gdLst/>
              <a:ahLst/>
              <a:cxnLst/>
              <a:rect r="r" b="b" t="t" l="l"/>
              <a:pathLst>
                <a:path h="74371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743712"/>
                  </a:lnTo>
                  <a:lnTo>
                    <a:pt x="0" y="743712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4417782" cy="777496"/>
            </a:xfrm>
            <a:custGeom>
              <a:avLst/>
              <a:gdLst/>
              <a:ahLst/>
              <a:cxnLst/>
              <a:rect r="r" b="b" t="t" l="l"/>
              <a:pathLst>
                <a:path h="77749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760603"/>
                  </a:lnTo>
                  <a:cubicBezTo>
                    <a:pt x="24417782" y="770001"/>
                    <a:pt x="24410163" y="777494"/>
                    <a:pt x="24400890" y="777494"/>
                  </a:cubicBezTo>
                  <a:lnTo>
                    <a:pt x="16891" y="777494"/>
                  </a:lnTo>
                  <a:cubicBezTo>
                    <a:pt x="7620" y="777621"/>
                    <a:pt x="0" y="770001"/>
                    <a:pt x="0" y="7606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60603"/>
                  </a:lnTo>
                  <a:lnTo>
                    <a:pt x="16891" y="760603"/>
                  </a:lnTo>
                  <a:lnTo>
                    <a:pt x="16891" y="743712"/>
                  </a:lnTo>
                  <a:lnTo>
                    <a:pt x="24400890" y="743712"/>
                  </a:lnTo>
                  <a:lnTo>
                    <a:pt x="24400890" y="760603"/>
                  </a:lnTo>
                  <a:lnTo>
                    <a:pt x="24384000" y="7606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6459200" y="9747504"/>
            <a:ext cx="1280160" cy="493776"/>
            <a:chOff x="0" y="0"/>
            <a:chExt cx="1706880" cy="658368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706880" cy="658368"/>
            </a:xfrm>
            <a:custGeom>
              <a:avLst/>
              <a:gdLst/>
              <a:ahLst/>
              <a:cxnLst/>
              <a:rect r="r" b="b" t="t" l="l"/>
              <a:pathLst>
                <a:path h="65836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6" r="0" b="-516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170688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 / 9</a:t>
              </a:r>
            </a:p>
          </p:txBody>
        </p:sp>
      </p:grpSp>
      <p:sp>
        <p:nvSpPr>
          <p:cNvPr name="Freeform 113" id="113"/>
          <p:cNvSpPr/>
          <p:nvPr/>
        </p:nvSpPr>
        <p:spPr>
          <a:xfrm flipH="false" flipV="false" rot="0">
            <a:off x="0" y="0"/>
            <a:ext cx="1364519" cy="2602808"/>
          </a:xfrm>
          <a:custGeom>
            <a:avLst/>
            <a:gdLst/>
            <a:ahLst/>
            <a:cxnLst/>
            <a:rect r="r" b="b" t="t" l="l"/>
            <a:pathLst>
              <a:path h="2602808" w="1364519">
                <a:moveTo>
                  <a:pt x="0" y="0"/>
                </a:moveTo>
                <a:lnTo>
                  <a:pt x="1364519" y="0"/>
                </a:lnTo>
                <a:lnTo>
                  <a:pt x="1364519" y="2602808"/>
                </a:lnTo>
                <a:lnTo>
                  <a:pt x="0" y="26028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14592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74503" y="-12697"/>
            <a:ext cx="6426203" cy="10312403"/>
            <a:chOff x="0" y="0"/>
            <a:chExt cx="856827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8534400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D9488">
                <a:alpha val="1176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56818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8568182">
                  <a:moveTo>
                    <a:pt x="16891" y="0"/>
                  </a:moveTo>
                  <a:lnTo>
                    <a:pt x="8551291" y="0"/>
                  </a:lnTo>
                  <a:cubicBezTo>
                    <a:pt x="8560689" y="0"/>
                    <a:pt x="8568182" y="7620"/>
                    <a:pt x="8568182" y="16891"/>
                  </a:cubicBezTo>
                  <a:lnTo>
                    <a:pt x="8568182" y="13732890"/>
                  </a:lnTo>
                  <a:cubicBezTo>
                    <a:pt x="8568182" y="13742290"/>
                    <a:pt x="8560562" y="13749782"/>
                    <a:pt x="855129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8551291" y="13716000"/>
                  </a:lnTo>
                  <a:lnTo>
                    <a:pt x="8551291" y="13732890"/>
                  </a:lnTo>
                  <a:lnTo>
                    <a:pt x="8534400" y="13732890"/>
                  </a:lnTo>
                  <a:lnTo>
                    <a:pt x="8534400" y="16891"/>
                  </a:lnTo>
                  <a:lnTo>
                    <a:pt x="8551291" y="16891"/>
                  </a:lnTo>
                  <a:lnTo>
                    <a:pt x="8551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640080"/>
            <a:ext cx="16459200" cy="1280160"/>
            <a:chOff x="0" y="0"/>
            <a:chExt cx="21945600" cy="17068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this matters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1703" y="2821943"/>
            <a:ext cx="16118843" cy="1397003"/>
            <a:chOff x="0" y="0"/>
            <a:chExt cx="21491791" cy="18626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1457919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457919">
                  <a:moveTo>
                    <a:pt x="0" y="0"/>
                  </a:moveTo>
                  <a:lnTo>
                    <a:pt x="21457919" y="0"/>
                  </a:lnTo>
                  <a:lnTo>
                    <a:pt x="21457919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FFFFF">
                <a:alpha val="392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491702" cy="1862582"/>
            </a:xfrm>
            <a:custGeom>
              <a:avLst/>
              <a:gdLst/>
              <a:ahLst/>
              <a:cxnLst/>
              <a:rect r="r" b="b" t="t" l="l"/>
              <a:pathLst>
                <a:path h="1862582" w="21491702">
                  <a:moveTo>
                    <a:pt x="16891" y="0"/>
                  </a:moveTo>
                  <a:lnTo>
                    <a:pt x="21474810" y="0"/>
                  </a:lnTo>
                  <a:cubicBezTo>
                    <a:pt x="21484208" y="0"/>
                    <a:pt x="21491702" y="7620"/>
                    <a:pt x="21491702" y="16891"/>
                  </a:cubicBezTo>
                  <a:lnTo>
                    <a:pt x="21491702" y="1845691"/>
                  </a:lnTo>
                  <a:cubicBezTo>
                    <a:pt x="21491702" y="1855089"/>
                    <a:pt x="21484082" y="1862582"/>
                    <a:pt x="21474810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21474810" y="1828800"/>
                  </a:lnTo>
                  <a:lnTo>
                    <a:pt x="21474810" y="1845691"/>
                  </a:lnTo>
                  <a:lnTo>
                    <a:pt x="21457920" y="1845691"/>
                  </a:lnTo>
                  <a:lnTo>
                    <a:pt x="21457920" y="16891"/>
                  </a:lnTo>
                  <a:lnTo>
                    <a:pt x="21474810" y="16891"/>
                  </a:lnTo>
                  <a:lnTo>
                    <a:pt x="214748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88720" y="2834640"/>
            <a:ext cx="2560320" cy="1371600"/>
            <a:chOff x="0" y="0"/>
            <a:chExt cx="3413760" cy="1828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137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734" t="0" r="-18734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04775"/>
              <a:ext cx="3413760" cy="1933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14B8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590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840480" y="2962656"/>
            <a:ext cx="4023360" cy="548640"/>
            <a:chOff x="0" y="0"/>
            <a:chExt cx="536448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64480" cy="731520"/>
            </a:xfrm>
            <a:custGeom>
              <a:avLst/>
              <a:gdLst/>
              <a:ahLst/>
              <a:cxnLst/>
              <a:rect r="r" b="b" t="t" l="l"/>
              <a:pathLst>
                <a:path h="7315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364480" cy="76962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companies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3931920" y="3537204"/>
            <a:ext cx="1243584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CFBF1"/>
                </a:solidFill>
                <a:latin typeface="Calibri (MS)"/>
                <a:ea typeface="Calibri (MS)"/>
                <a:cs typeface="Calibri (MS)"/>
                <a:sym typeface="Calibri (MS)"/>
              </a:rPr>
              <a:t>fully parsed from unstructured CSV file — no manual copy-paste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01703" y="4431287"/>
            <a:ext cx="16118843" cy="1397003"/>
            <a:chOff x="0" y="0"/>
            <a:chExt cx="21491791" cy="186267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6891" y="16891"/>
              <a:ext cx="21457919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457919">
                  <a:moveTo>
                    <a:pt x="0" y="0"/>
                  </a:moveTo>
                  <a:lnTo>
                    <a:pt x="21457919" y="0"/>
                  </a:lnTo>
                  <a:lnTo>
                    <a:pt x="21457919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FFFFF">
                <a:alpha val="392"/>
              </a:srgbClr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491702" cy="1862582"/>
            </a:xfrm>
            <a:custGeom>
              <a:avLst/>
              <a:gdLst/>
              <a:ahLst/>
              <a:cxnLst/>
              <a:rect r="r" b="b" t="t" l="l"/>
              <a:pathLst>
                <a:path h="1862582" w="21491702">
                  <a:moveTo>
                    <a:pt x="16891" y="0"/>
                  </a:moveTo>
                  <a:lnTo>
                    <a:pt x="21474810" y="0"/>
                  </a:lnTo>
                  <a:cubicBezTo>
                    <a:pt x="21484208" y="0"/>
                    <a:pt x="21491702" y="7620"/>
                    <a:pt x="21491702" y="16891"/>
                  </a:cubicBezTo>
                  <a:lnTo>
                    <a:pt x="21491702" y="1845691"/>
                  </a:lnTo>
                  <a:cubicBezTo>
                    <a:pt x="21491702" y="1855089"/>
                    <a:pt x="21484082" y="1862582"/>
                    <a:pt x="21474810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21474810" y="1828800"/>
                  </a:lnTo>
                  <a:lnTo>
                    <a:pt x="21474810" y="1845691"/>
                  </a:lnTo>
                  <a:lnTo>
                    <a:pt x="21457920" y="1845691"/>
                  </a:lnTo>
                  <a:lnTo>
                    <a:pt x="21457920" y="16891"/>
                  </a:lnTo>
                  <a:lnTo>
                    <a:pt x="21474810" y="16891"/>
                  </a:lnTo>
                  <a:lnTo>
                    <a:pt x="214748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88720" y="4443984"/>
            <a:ext cx="2560320" cy="1371600"/>
            <a:chOff x="0" y="0"/>
            <a:chExt cx="3413760" cy="1828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4137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734" t="0" r="-18734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04775"/>
              <a:ext cx="3413760" cy="1933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14B8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4,720+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840480" y="4572000"/>
            <a:ext cx="4023360" cy="548640"/>
            <a:chOff x="0" y="0"/>
            <a:chExt cx="536448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364480" cy="731520"/>
            </a:xfrm>
            <a:custGeom>
              <a:avLst/>
              <a:gdLst/>
              <a:ahLst/>
              <a:cxnLst/>
              <a:rect r="r" b="b" t="t" l="l"/>
              <a:pathLst>
                <a:path h="7315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5364480" cy="76962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points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3931920" y="5146548"/>
            <a:ext cx="1243584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CFBF1"/>
                </a:solidFill>
                <a:latin typeface="Calibri (MS)"/>
                <a:ea typeface="Calibri (MS)"/>
                <a:cs typeface="Calibri (MS)"/>
                <a:sym typeface="Calibri (MS)"/>
              </a:rPr>
              <a:t>that would have taken a team weeks to gather manually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01703" y="6040631"/>
            <a:ext cx="16118843" cy="1397003"/>
            <a:chOff x="0" y="0"/>
            <a:chExt cx="21491791" cy="186267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21457919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457919">
                  <a:moveTo>
                    <a:pt x="0" y="0"/>
                  </a:moveTo>
                  <a:lnTo>
                    <a:pt x="21457919" y="0"/>
                  </a:lnTo>
                  <a:lnTo>
                    <a:pt x="21457919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FFFFF">
                <a:alpha val="392"/>
              </a:srgbClr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491702" cy="1862582"/>
            </a:xfrm>
            <a:custGeom>
              <a:avLst/>
              <a:gdLst/>
              <a:ahLst/>
              <a:cxnLst/>
              <a:rect r="r" b="b" t="t" l="l"/>
              <a:pathLst>
                <a:path h="1862582" w="21491702">
                  <a:moveTo>
                    <a:pt x="16891" y="0"/>
                  </a:moveTo>
                  <a:lnTo>
                    <a:pt x="21474810" y="0"/>
                  </a:lnTo>
                  <a:cubicBezTo>
                    <a:pt x="21484208" y="0"/>
                    <a:pt x="21491702" y="7620"/>
                    <a:pt x="21491702" y="16891"/>
                  </a:cubicBezTo>
                  <a:lnTo>
                    <a:pt x="21491702" y="1845691"/>
                  </a:lnTo>
                  <a:cubicBezTo>
                    <a:pt x="21491702" y="1855089"/>
                    <a:pt x="21484082" y="1862582"/>
                    <a:pt x="21474810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21474810" y="1828800"/>
                  </a:lnTo>
                  <a:lnTo>
                    <a:pt x="21474810" y="1845691"/>
                  </a:lnTo>
                  <a:lnTo>
                    <a:pt x="21457920" y="1845691"/>
                  </a:lnTo>
                  <a:lnTo>
                    <a:pt x="21457920" y="16891"/>
                  </a:lnTo>
                  <a:lnTo>
                    <a:pt x="21474810" y="16891"/>
                  </a:lnTo>
                  <a:lnTo>
                    <a:pt x="214748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88720" y="6053328"/>
            <a:ext cx="2560320" cy="1371600"/>
            <a:chOff x="0" y="0"/>
            <a:chExt cx="3413760" cy="1828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4137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734" t="0" r="-18734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04775"/>
              <a:ext cx="3413760" cy="1933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14B8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100%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3840480" y="6181344"/>
            <a:ext cx="4023360" cy="548640"/>
            <a:chOff x="0" y="0"/>
            <a:chExt cx="536448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364480" cy="731520"/>
            </a:xfrm>
            <a:custGeom>
              <a:avLst/>
              <a:gdLst/>
              <a:ahLst/>
              <a:cxnLst/>
              <a:rect r="r" b="b" t="t" l="l"/>
              <a:pathLst>
                <a:path h="7315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5364480" cy="76962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automation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3931920" y="6755892"/>
            <a:ext cx="1243584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CFBF1"/>
                </a:solidFill>
                <a:latin typeface="Calibri (MS)"/>
                <a:ea typeface="Calibri (MS)"/>
                <a:cs typeface="Calibri (MS)"/>
                <a:sym typeface="Calibri (MS)"/>
              </a:rPr>
              <a:t>reproducible pipeline — run again any time with updated data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01703" y="7649975"/>
            <a:ext cx="16118843" cy="1397003"/>
            <a:chOff x="0" y="0"/>
            <a:chExt cx="21491791" cy="186267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21457919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457919">
                  <a:moveTo>
                    <a:pt x="0" y="0"/>
                  </a:moveTo>
                  <a:lnTo>
                    <a:pt x="21457919" y="0"/>
                  </a:lnTo>
                  <a:lnTo>
                    <a:pt x="21457919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FFFFF">
                <a:alpha val="392"/>
              </a:srgbClr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1491702" cy="1862582"/>
            </a:xfrm>
            <a:custGeom>
              <a:avLst/>
              <a:gdLst/>
              <a:ahLst/>
              <a:cxnLst/>
              <a:rect r="r" b="b" t="t" l="l"/>
              <a:pathLst>
                <a:path h="1862582" w="21491702">
                  <a:moveTo>
                    <a:pt x="16891" y="0"/>
                  </a:moveTo>
                  <a:lnTo>
                    <a:pt x="21474810" y="0"/>
                  </a:lnTo>
                  <a:cubicBezTo>
                    <a:pt x="21484208" y="0"/>
                    <a:pt x="21491702" y="7620"/>
                    <a:pt x="21491702" y="16891"/>
                  </a:cubicBezTo>
                  <a:lnTo>
                    <a:pt x="21491702" y="1845691"/>
                  </a:lnTo>
                  <a:cubicBezTo>
                    <a:pt x="21491702" y="1855089"/>
                    <a:pt x="21484082" y="1862582"/>
                    <a:pt x="21474810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21474810" y="1828800"/>
                  </a:lnTo>
                  <a:lnTo>
                    <a:pt x="21474810" y="1845691"/>
                  </a:lnTo>
                  <a:lnTo>
                    <a:pt x="21457920" y="1845691"/>
                  </a:lnTo>
                  <a:lnTo>
                    <a:pt x="21457920" y="16891"/>
                  </a:lnTo>
                  <a:lnTo>
                    <a:pt x="21474810" y="16891"/>
                  </a:lnTo>
                  <a:lnTo>
                    <a:pt x="214748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88720" y="7662672"/>
            <a:ext cx="2560320" cy="1371600"/>
            <a:chOff x="0" y="0"/>
            <a:chExt cx="3413760" cy="1828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4137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734" t="0" r="-18734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04775"/>
              <a:ext cx="3413760" cy="1933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14B8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3840480" y="7790688"/>
            <a:ext cx="4023360" cy="548640"/>
            <a:chOff x="0" y="0"/>
            <a:chExt cx="536448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364480" cy="731520"/>
            </a:xfrm>
            <a:custGeom>
              <a:avLst/>
              <a:gdLst/>
              <a:ahLst/>
              <a:cxnLst/>
              <a:rect r="r" b="b" t="t" l="l"/>
              <a:pathLst>
                <a:path h="7315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5364480" cy="76962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empty cells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3931920" y="8365236"/>
            <a:ext cx="1243584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CFBF1"/>
                </a:solidFill>
                <a:latin typeface="Calibri (MS)"/>
                <a:ea typeface="Calibri (MS)"/>
                <a:cs typeface="Calibri (MS)"/>
                <a:sym typeface="Calibri (MS)"/>
              </a:rPr>
              <a:t>in the final cleaned dataset — consistent, report-ready data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-12697" y="9716519"/>
            <a:ext cx="18313403" cy="583187"/>
            <a:chOff x="0" y="0"/>
            <a:chExt cx="24417871" cy="77758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16891" y="16891"/>
              <a:ext cx="24383999" cy="743712"/>
            </a:xfrm>
            <a:custGeom>
              <a:avLst/>
              <a:gdLst/>
              <a:ahLst/>
              <a:cxnLst/>
              <a:rect r="r" b="b" t="t" l="l"/>
              <a:pathLst>
                <a:path h="74371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743712"/>
                  </a:lnTo>
                  <a:lnTo>
                    <a:pt x="0" y="743712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4417782" cy="777496"/>
            </a:xfrm>
            <a:custGeom>
              <a:avLst/>
              <a:gdLst/>
              <a:ahLst/>
              <a:cxnLst/>
              <a:rect r="r" b="b" t="t" l="l"/>
              <a:pathLst>
                <a:path h="77749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760603"/>
                  </a:lnTo>
                  <a:cubicBezTo>
                    <a:pt x="24417782" y="770001"/>
                    <a:pt x="24410163" y="777494"/>
                    <a:pt x="24400890" y="777494"/>
                  </a:cubicBezTo>
                  <a:lnTo>
                    <a:pt x="16891" y="777494"/>
                  </a:lnTo>
                  <a:cubicBezTo>
                    <a:pt x="7620" y="777621"/>
                    <a:pt x="0" y="770001"/>
                    <a:pt x="0" y="7606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60603"/>
                  </a:lnTo>
                  <a:lnTo>
                    <a:pt x="16891" y="760603"/>
                  </a:lnTo>
                  <a:lnTo>
                    <a:pt x="16891" y="743712"/>
                  </a:lnTo>
                  <a:lnTo>
                    <a:pt x="24400890" y="743712"/>
                  </a:lnTo>
                  <a:lnTo>
                    <a:pt x="24400890" y="760603"/>
                  </a:lnTo>
                  <a:lnTo>
                    <a:pt x="24384000" y="7606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6459200" y="9747504"/>
            <a:ext cx="1280160" cy="493776"/>
            <a:chOff x="0" y="0"/>
            <a:chExt cx="1706880" cy="65836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706880" cy="658368"/>
            </a:xfrm>
            <a:custGeom>
              <a:avLst/>
              <a:gdLst/>
              <a:ahLst/>
              <a:cxnLst/>
              <a:rect r="r" b="b" t="t" l="l"/>
              <a:pathLst>
                <a:path h="65836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6" r="0" b="-516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70688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 / 9</a:t>
              </a:r>
            </a:p>
          </p:txBody>
        </p:sp>
      </p:grpSp>
      <p:sp>
        <p:nvSpPr>
          <p:cNvPr name="Freeform 54" id="54"/>
          <p:cNvSpPr/>
          <p:nvPr/>
        </p:nvSpPr>
        <p:spPr>
          <a:xfrm flipH="false" flipV="false" rot="0">
            <a:off x="0" y="0"/>
            <a:ext cx="1364519" cy="2602808"/>
          </a:xfrm>
          <a:custGeom>
            <a:avLst/>
            <a:gdLst/>
            <a:ahLst/>
            <a:cxnLst/>
            <a:rect r="r" b="b" t="t" l="l"/>
            <a:pathLst>
              <a:path h="2602808" w="1364519">
                <a:moveTo>
                  <a:pt x="0" y="0"/>
                </a:moveTo>
                <a:lnTo>
                  <a:pt x="1364519" y="0"/>
                </a:lnTo>
                <a:lnTo>
                  <a:pt x="1364519" y="2602808"/>
                </a:lnTo>
                <a:lnTo>
                  <a:pt x="0" y="26028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14592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682240"/>
            </a:xfrm>
            <a:custGeom>
              <a:avLst/>
              <a:gdLst/>
              <a:ahLst/>
              <a:cxnLst/>
              <a:rect r="r" b="b" t="t" l="l"/>
              <a:pathLst>
                <a:path h="26822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16022"/>
            </a:xfrm>
            <a:custGeom>
              <a:avLst/>
              <a:gdLst/>
              <a:ahLst/>
              <a:cxnLst/>
              <a:rect r="r" b="b" t="t" l="l"/>
              <a:pathLst>
                <a:path h="27160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64519" y="-12697"/>
            <a:ext cx="16459200" cy="2011680"/>
            <a:chOff x="0" y="0"/>
            <a:chExt cx="21945600" cy="26822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423" r="0" b="-10942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21945600" cy="2796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Challenge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2697" y="9716519"/>
            <a:ext cx="18313403" cy="583187"/>
            <a:chOff x="0" y="0"/>
            <a:chExt cx="24417871" cy="7775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4383999" cy="743712"/>
            </a:xfrm>
            <a:custGeom>
              <a:avLst/>
              <a:gdLst/>
              <a:ahLst/>
              <a:cxnLst/>
              <a:rect r="r" b="b" t="t" l="l"/>
              <a:pathLst>
                <a:path h="74371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743712"/>
                  </a:lnTo>
                  <a:lnTo>
                    <a:pt x="0" y="743712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17782" cy="777496"/>
            </a:xfrm>
            <a:custGeom>
              <a:avLst/>
              <a:gdLst/>
              <a:ahLst/>
              <a:cxnLst/>
              <a:rect r="r" b="b" t="t" l="l"/>
              <a:pathLst>
                <a:path h="77749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760603"/>
                  </a:lnTo>
                  <a:cubicBezTo>
                    <a:pt x="24417782" y="770001"/>
                    <a:pt x="24410163" y="777494"/>
                    <a:pt x="24400890" y="777494"/>
                  </a:cubicBezTo>
                  <a:lnTo>
                    <a:pt x="16891" y="777494"/>
                  </a:lnTo>
                  <a:cubicBezTo>
                    <a:pt x="7620" y="777621"/>
                    <a:pt x="0" y="770001"/>
                    <a:pt x="0" y="7606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60603"/>
                  </a:lnTo>
                  <a:lnTo>
                    <a:pt x="16891" y="760603"/>
                  </a:lnTo>
                  <a:lnTo>
                    <a:pt x="16891" y="743712"/>
                  </a:lnTo>
                  <a:lnTo>
                    <a:pt x="24400890" y="743712"/>
                  </a:lnTo>
                  <a:lnTo>
                    <a:pt x="24400890" y="760603"/>
                  </a:lnTo>
                  <a:lnTo>
                    <a:pt x="24384000" y="7606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459200" y="9747504"/>
            <a:ext cx="1280160" cy="493776"/>
            <a:chOff x="0" y="0"/>
            <a:chExt cx="1706880" cy="6583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06880" cy="658368"/>
            </a:xfrm>
            <a:custGeom>
              <a:avLst/>
              <a:gdLst/>
              <a:ahLst/>
              <a:cxnLst/>
              <a:rect r="r" b="b" t="t" l="l"/>
              <a:pathLst>
                <a:path h="65836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6" r="0" b="-51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70688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 / 9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4742153" y="2882306"/>
            <a:ext cx="22001453" cy="5740403"/>
            <a:chOff x="0" y="0"/>
            <a:chExt cx="29335271" cy="7653871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7355800" y="0"/>
              <a:ext cx="21979471" cy="1667599"/>
              <a:chOff x="0" y="0"/>
              <a:chExt cx="21979471" cy="1667599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16891" y="16891"/>
                <a:ext cx="21945599" cy="1633728"/>
              </a:xfrm>
              <a:custGeom>
                <a:avLst/>
                <a:gdLst/>
                <a:ahLst/>
                <a:cxnLst/>
                <a:rect r="r" b="b" t="t" l="l"/>
                <a:pathLst>
                  <a:path h="1633728" w="21945599">
                    <a:moveTo>
                      <a:pt x="0" y="0"/>
                    </a:moveTo>
                    <a:lnTo>
                      <a:pt x="21945599" y="0"/>
                    </a:lnTo>
                    <a:lnTo>
                      <a:pt x="21945599" y="1633728"/>
                    </a:lnTo>
                    <a:lnTo>
                      <a:pt x="0" y="163372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1979382" cy="1667510"/>
              </a:xfrm>
              <a:custGeom>
                <a:avLst/>
                <a:gdLst/>
                <a:ahLst/>
                <a:cxnLst/>
                <a:rect r="r" b="b" t="t" l="l"/>
                <a:pathLst>
                  <a:path h="1667510" w="21979382">
                    <a:moveTo>
                      <a:pt x="16891" y="0"/>
                    </a:moveTo>
                    <a:lnTo>
                      <a:pt x="21962490" y="0"/>
                    </a:lnTo>
                    <a:cubicBezTo>
                      <a:pt x="21971890" y="0"/>
                      <a:pt x="21979382" y="7620"/>
                      <a:pt x="21979382" y="16891"/>
                    </a:cubicBezTo>
                    <a:lnTo>
                      <a:pt x="21979382" y="1650619"/>
                    </a:lnTo>
                    <a:cubicBezTo>
                      <a:pt x="21979382" y="1660017"/>
                      <a:pt x="21971763" y="1667510"/>
                      <a:pt x="21962490" y="1667510"/>
                    </a:cubicBezTo>
                    <a:lnTo>
                      <a:pt x="16891" y="1667510"/>
                    </a:lnTo>
                    <a:cubicBezTo>
                      <a:pt x="7493" y="1667510"/>
                      <a:pt x="0" y="1659890"/>
                      <a:pt x="0" y="165061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650619"/>
                    </a:lnTo>
                    <a:lnTo>
                      <a:pt x="16891" y="1650619"/>
                    </a:lnTo>
                    <a:lnTo>
                      <a:pt x="16891" y="1633728"/>
                    </a:lnTo>
                    <a:lnTo>
                      <a:pt x="21962490" y="1633728"/>
                    </a:lnTo>
                    <a:lnTo>
                      <a:pt x="21962490" y="1650619"/>
                    </a:lnTo>
                    <a:lnTo>
                      <a:pt x="21945600" y="1650619"/>
                    </a:lnTo>
                    <a:lnTo>
                      <a:pt x="21945600" y="16891"/>
                    </a:lnTo>
                    <a:lnTo>
                      <a:pt x="21962490" y="16891"/>
                    </a:lnTo>
                    <a:lnTo>
                      <a:pt x="21962490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E2E8F0"/>
              </a:solidFill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7355800" y="0"/>
              <a:ext cx="1667599" cy="1667599"/>
              <a:chOff x="0" y="0"/>
              <a:chExt cx="1667599" cy="1667599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16891" y="16891"/>
                <a:ext cx="1633728" cy="1633728"/>
              </a:xfrm>
              <a:custGeom>
                <a:avLst/>
                <a:gdLst/>
                <a:ahLst/>
                <a:cxnLst/>
                <a:rect r="r" b="b" t="t" l="l"/>
                <a:pathLst>
                  <a:path h="1633728" w="1633728">
                    <a:moveTo>
                      <a:pt x="0" y="0"/>
                    </a:moveTo>
                    <a:lnTo>
                      <a:pt x="1633728" y="0"/>
                    </a:lnTo>
                    <a:lnTo>
                      <a:pt x="1633728" y="1633728"/>
                    </a:lnTo>
                    <a:lnTo>
                      <a:pt x="0" y="1633728"/>
                    </a:lnTo>
                    <a:close/>
                  </a:path>
                </a:pathLst>
              </a:custGeom>
              <a:solidFill>
                <a:srgbClr val="0D1B2A"/>
              </a:solidFill>
            </p:spPr>
          </p:sp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667510" cy="1667510"/>
              </a:xfrm>
              <a:custGeom>
                <a:avLst/>
                <a:gdLst/>
                <a:ahLst/>
                <a:cxnLst/>
                <a:rect r="r" b="b" t="t" l="l"/>
                <a:pathLst>
                  <a:path h="1667510" w="1667510">
                    <a:moveTo>
                      <a:pt x="16891" y="0"/>
                    </a:moveTo>
                    <a:lnTo>
                      <a:pt x="1650619" y="0"/>
                    </a:lnTo>
                    <a:cubicBezTo>
                      <a:pt x="1660017" y="0"/>
                      <a:pt x="1667510" y="7620"/>
                      <a:pt x="1667510" y="16891"/>
                    </a:cubicBezTo>
                    <a:lnTo>
                      <a:pt x="1667510" y="1650619"/>
                    </a:lnTo>
                    <a:cubicBezTo>
                      <a:pt x="1667510" y="1660017"/>
                      <a:pt x="1659890" y="1667510"/>
                      <a:pt x="1650619" y="1667510"/>
                    </a:cubicBezTo>
                    <a:lnTo>
                      <a:pt x="16891" y="1667510"/>
                    </a:lnTo>
                    <a:cubicBezTo>
                      <a:pt x="7493" y="1667510"/>
                      <a:pt x="0" y="1659890"/>
                      <a:pt x="0" y="165061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650619"/>
                    </a:lnTo>
                    <a:lnTo>
                      <a:pt x="16891" y="1650619"/>
                    </a:lnTo>
                    <a:lnTo>
                      <a:pt x="16891" y="1633728"/>
                    </a:lnTo>
                    <a:lnTo>
                      <a:pt x="1650619" y="1633728"/>
                    </a:lnTo>
                    <a:lnTo>
                      <a:pt x="1650619" y="1650619"/>
                    </a:lnTo>
                    <a:lnTo>
                      <a:pt x="1633728" y="1650619"/>
                    </a:lnTo>
                    <a:lnTo>
                      <a:pt x="1633728" y="16891"/>
                    </a:lnTo>
                    <a:lnTo>
                      <a:pt x="1650619" y="16891"/>
                    </a:lnTo>
                    <a:lnTo>
                      <a:pt x="1650619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D1B2A"/>
              </a:solidFill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7372729" y="16929"/>
              <a:ext cx="1633728" cy="1633728"/>
              <a:chOff x="0" y="0"/>
              <a:chExt cx="1633728" cy="1633728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633728" cy="1633728"/>
              </a:xfrm>
              <a:custGeom>
                <a:avLst/>
                <a:gdLst/>
                <a:ahLst/>
                <a:cxnLst/>
                <a:rect r="r" b="b" t="t" l="l"/>
                <a:pathLst>
                  <a:path h="1633728" w="1633728">
                    <a:moveTo>
                      <a:pt x="0" y="0"/>
                    </a:moveTo>
                    <a:lnTo>
                      <a:pt x="1633728" y="0"/>
                    </a:lnTo>
                    <a:lnTo>
                      <a:pt x="1633728" y="1633728"/>
                    </a:lnTo>
                    <a:lnTo>
                      <a:pt x="0" y="163372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57150"/>
                <a:ext cx="1633728" cy="169087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840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7355800" y="1926336"/>
              <a:ext cx="21979471" cy="1667599"/>
              <a:chOff x="0" y="0"/>
              <a:chExt cx="21979471" cy="1667599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16891" y="16891"/>
                <a:ext cx="21945599" cy="1633728"/>
              </a:xfrm>
              <a:custGeom>
                <a:avLst/>
                <a:gdLst/>
                <a:ahLst/>
                <a:cxnLst/>
                <a:rect r="r" b="b" t="t" l="l"/>
                <a:pathLst>
                  <a:path h="1633728" w="21945599">
                    <a:moveTo>
                      <a:pt x="0" y="0"/>
                    </a:moveTo>
                    <a:lnTo>
                      <a:pt x="21945599" y="0"/>
                    </a:lnTo>
                    <a:lnTo>
                      <a:pt x="21945599" y="1633728"/>
                    </a:lnTo>
                    <a:lnTo>
                      <a:pt x="0" y="163372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21979382" cy="1667510"/>
              </a:xfrm>
              <a:custGeom>
                <a:avLst/>
                <a:gdLst/>
                <a:ahLst/>
                <a:cxnLst/>
                <a:rect r="r" b="b" t="t" l="l"/>
                <a:pathLst>
                  <a:path h="1667510" w="21979382">
                    <a:moveTo>
                      <a:pt x="16891" y="0"/>
                    </a:moveTo>
                    <a:lnTo>
                      <a:pt x="21962490" y="0"/>
                    </a:lnTo>
                    <a:cubicBezTo>
                      <a:pt x="21971890" y="0"/>
                      <a:pt x="21979382" y="7620"/>
                      <a:pt x="21979382" y="16891"/>
                    </a:cubicBezTo>
                    <a:lnTo>
                      <a:pt x="21979382" y="1650619"/>
                    </a:lnTo>
                    <a:cubicBezTo>
                      <a:pt x="21979382" y="1660017"/>
                      <a:pt x="21971763" y="1667510"/>
                      <a:pt x="21962490" y="1667510"/>
                    </a:cubicBezTo>
                    <a:lnTo>
                      <a:pt x="16891" y="1667510"/>
                    </a:lnTo>
                    <a:cubicBezTo>
                      <a:pt x="7493" y="1667510"/>
                      <a:pt x="0" y="1659890"/>
                      <a:pt x="0" y="165061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650619"/>
                    </a:lnTo>
                    <a:lnTo>
                      <a:pt x="16891" y="1650619"/>
                    </a:lnTo>
                    <a:lnTo>
                      <a:pt x="16891" y="1633728"/>
                    </a:lnTo>
                    <a:lnTo>
                      <a:pt x="21962490" y="1633728"/>
                    </a:lnTo>
                    <a:lnTo>
                      <a:pt x="21962490" y="1650619"/>
                    </a:lnTo>
                    <a:lnTo>
                      <a:pt x="21945600" y="1650619"/>
                    </a:lnTo>
                    <a:lnTo>
                      <a:pt x="21945600" y="16891"/>
                    </a:lnTo>
                    <a:lnTo>
                      <a:pt x="21962490" y="16891"/>
                    </a:lnTo>
                    <a:lnTo>
                      <a:pt x="21962490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E2E8F0"/>
              </a:solidFill>
            </p:spPr>
          </p:sp>
        </p:grpSp>
        <p:grpSp>
          <p:nvGrpSpPr>
            <p:cNvPr name="Group 27" id="27"/>
            <p:cNvGrpSpPr/>
            <p:nvPr/>
          </p:nvGrpSpPr>
          <p:grpSpPr>
            <a:xfrm rot="0">
              <a:off x="7355800" y="1926336"/>
              <a:ext cx="1667599" cy="1667599"/>
              <a:chOff x="0" y="0"/>
              <a:chExt cx="1667599" cy="1667599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16891" y="16891"/>
                <a:ext cx="1633728" cy="1633728"/>
              </a:xfrm>
              <a:custGeom>
                <a:avLst/>
                <a:gdLst/>
                <a:ahLst/>
                <a:cxnLst/>
                <a:rect r="r" b="b" t="t" l="l"/>
                <a:pathLst>
                  <a:path h="1633728" w="1633728">
                    <a:moveTo>
                      <a:pt x="0" y="0"/>
                    </a:moveTo>
                    <a:lnTo>
                      <a:pt x="1633728" y="0"/>
                    </a:lnTo>
                    <a:lnTo>
                      <a:pt x="1633728" y="1633728"/>
                    </a:lnTo>
                    <a:lnTo>
                      <a:pt x="0" y="1633728"/>
                    </a:lnTo>
                    <a:close/>
                  </a:path>
                </a:pathLst>
              </a:custGeom>
              <a:solidFill>
                <a:srgbClr val="0D1B2A"/>
              </a:solidFill>
            </p:spPr>
          </p:sp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667510" cy="1667510"/>
              </a:xfrm>
              <a:custGeom>
                <a:avLst/>
                <a:gdLst/>
                <a:ahLst/>
                <a:cxnLst/>
                <a:rect r="r" b="b" t="t" l="l"/>
                <a:pathLst>
                  <a:path h="1667510" w="1667510">
                    <a:moveTo>
                      <a:pt x="16891" y="0"/>
                    </a:moveTo>
                    <a:lnTo>
                      <a:pt x="1650619" y="0"/>
                    </a:lnTo>
                    <a:cubicBezTo>
                      <a:pt x="1660017" y="0"/>
                      <a:pt x="1667510" y="7620"/>
                      <a:pt x="1667510" y="16891"/>
                    </a:cubicBezTo>
                    <a:lnTo>
                      <a:pt x="1667510" y="1650619"/>
                    </a:lnTo>
                    <a:cubicBezTo>
                      <a:pt x="1667510" y="1660017"/>
                      <a:pt x="1659890" y="1667510"/>
                      <a:pt x="1650619" y="1667510"/>
                    </a:cubicBezTo>
                    <a:lnTo>
                      <a:pt x="16891" y="1667510"/>
                    </a:lnTo>
                    <a:cubicBezTo>
                      <a:pt x="7493" y="1667510"/>
                      <a:pt x="0" y="1659890"/>
                      <a:pt x="0" y="165061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650619"/>
                    </a:lnTo>
                    <a:lnTo>
                      <a:pt x="16891" y="1650619"/>
                    </a:lnTo>
                    <a:lnTo>
                      <a:pt x="16891" y="1633728"/>
                    </a:lnTo>
                    <a:lnTo>
                      <a:pt x="1650619" y="1633728"/>
                    </a:lnTo>
                    <a:lnTo>
                      <a:pt x="1650619" y="1650619"/>
                    </a:lnTo>
                    <a:lnTo>
                      <a:pt x="1633728" y="1650619"/>
                    </a:lnTo>
                    <a:lnTo>
                      <a:pt x="1633728" y="16891"/>
                    </a:lnTo>
                    <a:lnTo>
                      <a:pt x="1650619" y="16891"/>
                    </a:lnTo>
                    <a:lnTo>
                      <a:pt x="1650619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D1B2A"/>
              </a:solidFill>
            </p:spPr>
          </p:sp>
        </p:grpSp>
        <p:grpSp>
          <p:nvGrpSpPr>
            <p:cNvPr name="Group 30" id="30"/>
            <p:cNvGrpSpPr/>
            <p:nvPr/>
          </p:nvGrpSpPr>
          <p:grpSpPr>
            <a:xfrm rot="0">
              <a:off x="7372729" y="1943265"/>
              <a:ext cx="1633728" cy="1633728"/>
              <a:chOff x="0" y="0"/>
              <a:chExt cx="1633728" cy="1633728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633728" cy="1633728"/>
              </a:xfrm>
              <a:custGeom>
                <a:avLst/>
                <a:gdLst/>
                <a:ahLst/>
                <a:cxnLst/>
                <a:rect r="r" b="b" t="t" l="l"/>
                <a:pathLst>
                  <a:path h="1633728" w="1633728">
                    <a:moveTo>
                      <a:pt x="0" y="0"/>
                    </a:moveTo>
                    <a:lnTo>
                      <a:pt x="1633728" y="0"/>
                    </a:lnTo>
                    <a:lnTo>
                      <a:pt x="1633728" y="1633728"/>
                    </a:lnTo>
                    <a:lnTo>
                      <a:pt x="0" y="163372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57150"/>
                <a:ext cx="1633728" cy="169087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840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7355800" y="3852672"/>
              <a:ext cx="21979471" cy="1667599"/>
              <a:chOff x="0" y="0"/>
              <a:chExt cx="21979471" cy="1667599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16891" y="16891"/>
                <a:ext cx="21945599" cy="1633728"/>
              </a:xfrm>
              <a:custGeom>
                <a:avLst/>
                <a:gdLst/>
                <a:ahLst/>
                <a:cxnLst/>
                <a:rect r="r" b="b" t="t" l="l"/>
                <a:pathLst>
                  <a:path h="1633728" w="21945599">
                    <a:moveTo>
                      <a:pt x="0" y="0"/>
                    </a:moveTo>
                    <a:lnTo>
                      <a:pt x="21945599" y="0"/>
                    </a:lnTo>
                    <a:lnTo>
                      <a:pt x="21945599" y="1633728"/>
                    </a:lnTo>
                    <a:lnTo>
                      <a:pt x="0" y="163372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21979382" cy="1667510"/>
              </a:xfrm>
              <a:custGeom>
                <a:avLst/>
                <a:gdLst/>
                <a:ahLst/>
                <a:cxnLst/>
                <a:rect r="r" b="b" t="t" l="l"/>
                <a:pathLst>
                  <a:path h="1667510" w="21979382">
                    <a:moveTo>
                      <a:pt x="16891" y="0"/>
                    </a:moveTo>
                    <a:lnTo>
                      <a:pt x="21962490" y="0"/>
                    </a:lnTo>
                    <a:cubicBezTo>
                      <a:pt x="21971890" y="0"/>
                      <a:pt x="21979382" y="7620"/>
                      <a:pt x="21979382" y="16891"/>
                    </a:cubicBezTo>
                    <a:lnTo>
                      <a:pt x="21979382" y="1650619"/>
                    </a:lnTo>
                    <a:cubicBezTo>
                      <a:pt x="21979382" y="1660017"/>
                      <a:pt x="21971763" y="1667510"/>
                      <a:pt x="21962490" y="1667510"/>
                    </a:cubicBezTo>
                    <a:lnTo>
                      <a:pt x="16891" y="1667510"/>
                    </a:lnTo>
                    <a:cubicBezTo>
                      <a:pt x="7493" y="1667510"/>
                      <a:pt x="0" y="1659890"/>
                      <a:pt x="0" y="165061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650619"/>
                    </a:lnTo>
                    <a:lnTo>
                      <a:pt x="16891" y="1650619"/>
                    </a:lnTo>
                    <a:lnTo>
                      <a:pt x="16891" y="1633728"/>
                    </a:lnTo>
                    <a:lnTo>
                      <a:pt x="21962490" y="1633728"/>
                    </a:lnTo>
                    <a:lnTo>
                      <a:pt x="21962490" y="1650619"/>
                    </a:lnTo>
                    <a:lnTo>
                      <a:pt x="21945600" y="1650619"/>
                    </a:lnTo>
                    <a:lnTo>
                      <a:pt x="21945600" y="16891"/>
                    </a:lnTo>
                    <a:lnTo>
                      <a:pt x="21962490" y="16891"/>
                    </a:lnTo>
                    <a:lnTo>
                      <a:pt x="21962490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E2E8F0"/>
              </a:solidFill>
            </p:spPr>
          </p:sp>
        </p:grpSp>
        <p:grpSp>
          <p:nvGrpSpPr>
            <p:cNvPr name="Group 36" id="36"/>
            <p:cNvGrpSpPr/>
            <p:nvPr/>
          </p:nvGrpSpPr>
          <p:grpSpPr>
            <a:xfrm rot="0">
              <a:off x="7355800" y="3852672"/>
              <a:ext cx="1667599" cy="1667599"/>
              <a:chOff x="0" y="0"/>
              <a:chExt cx="1667599" cy="1667599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16891" y="16891"/>
                <a:ext cx="1633728" cy="1633728"/>
              </a:xfrm>
              <a:custGeom>
                <a:avLst/>
                <a:gdLst/>
                <a:ahLst/>
                <a:cxnLst/>
                <a:rect r="r" b="b" t="t" l="l"/>
                <a:pathLst>
                  <a:path h="1633728" w="1633728">
                    <a:moveTo>
                      <a:pt x="0" y="0"/>
                    </a:moveTo>
                    <a:lnTo>
                      <a:pt x="1633728" y="0"/>
                    </a:lnTo>
                    <a:lnTo>
                      <a:pt x="1633728" y="1633728"/>
                    </a:lnTo>
                    <a:lnTo>
                      <a:pt x="0" y="1633728"/>
                    </a:lnTo>
                    <a:close/>
                  </a:path>
                </a:pathLst>
              </a:custGeom>
              <a:solidFill>
                <a:srgbClr val="0D1B2A"/>
              </a:solidFill>
            </p:spPr>
          </p:sp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667510" cy="1667510"/>
              </a:xfrm>
              <a:custGeom>
                <a:avLst/>
                <a:gdLst/>
                <a:ahLst/>
                <a:cxnLst/>
                <a:rect r="r" b="b" t="t" l="l"/>
                <a:pathLst>
                  <a:path h="1667510" w="1667510">
                    <a:moveTo>
                      <a:pt x="16891" y="0"/>
                    </a:moveTo>
                    <a:lnTo>
                      <a:pt x="1650619" y="0"/>
                    </a:lnTo>
                    <a:cubicBezTo>
                      <a:pt x="1660017" y="0"/>
                      <a:pt x="1667510" y="7620"/>
                      <a:pt x="1667510" y="16891"/>
                    </a:cubicBezTo>
                    <a:lnTo>
                      <a:pt x="1667510" y="1650619"/>
                    </a:lnTo>
                    <a:cubicBezTo>
                      <a:pt x="1667510" y="1660017"/>
                      <a:pt x="1659890" y="1667510"/>
                      <a:pt x="1650619" y="1667510"/>
                    </a:cubicBezTo>
                    <a:lnTo>
                      <a:pt x="16891" y="1667510"/>
                    </a:lnTo>
                    <a:cubicBezTo>
                      <a:pt x="7493" y="1667510"/>
                      <a:pt x="0" y="1659890"/>
                      <a:pt x="0" y="165061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650619"/>
                    </a:lnTo>
                    <a:lnTo>
                      <a:pt x="16891" y="1650619"/>
                    </a:lnTo>
                    <a:lnTo>
                      <a:pt x="16891" y="1633728"/>
                    </a:lnTo>
                    <a:lnTo>
                      <a:pt x="1650619" y="1633728"/>
                    </a:lnTo>
                    <a:lnTo>
                      <a:pt x="1650619" y="1650619"/>
                    </a:lnTo>
                    <a:lnTo>
                      <a:pt x="1633728" y="1650619"/>
                    </a:lnTo>
                    <a:lnTo>
                      <a:pt x="1633728" y="16891"/>
                    </a:lnTo>
                    <a:lnTo>
                      <a:pt x="1650619" y="16891"/>
                    </a:lnTo>
                    <a:lnTo>
                      <a:pt x="1650619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D1B2A"/>
              </a:solidFill>
            </p:spPr>
          </p:sp>
        </p:grpSp>
        <p:grpSp>
          <p:nvGrpSpPr>
            <p:cNvPr name="Group 39" id="39"/>
            <p:cNvGrpSpPr/>
            <p:nvPr/>
          </p:nvGrpSpPr>
          <p:grpSpPr>
            <a:xfrm rot="0">
              <a:off x="7372729" y="3869601"/>
              <a:ext cx="1633728" cy="1633728"/>
              <a:chOff x="0" y="0"/>
              <a:chExt cx="1633728" cy="1633728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633728" cy="1633728"/>
              </a:xfrm>
              <a:custGeom>
                <a:avLst/>
                <a:gdLst/>
                <a:ahLst/>
                <a:cxnLst/>
                <a:rect r="r" b="b" t="t" l="l"/>
                <a:pathLst>
                  <a:path h="1633728" w="1633728">
                    <a:moveTo>
                      <a:pt x="0" y="0"/>
                    </a:moveTo>
                    <a:lnTo>
                      <a:pt x="1633728" y="0"/>
                    </a:lnTo>
                    <a:lnTo>
                      <a:pt x="1633728" y="1633728"/>
                    </a:lnTo>
                    <a:lnTo>
                      <a:pt x="0" y="163372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57150"/>
                <a:ext cx="1633728" cy="169087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840"/>
                  </a:lnSpc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7355800" y="5779008"/>
              <a:ext cx="21979471" cy="1667599"/>
              <a:chOff x="0" y="0"/>
              <a:chExt cx="21979471" cy="1667599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16891" y="16891"/>
                <a:ext cx="21945599" cy="1633728"/>
              </a:xfrm>
              <a:custGeom>
                <a:avLst/>
                <a:gdLst/>
                <a:ahLst/>
                <a:cxnLst/>
                <a:rect r="r" b="b" t="t" l="l"/>
                <a:pathLst>
                  <a:path h="1633728" w="21945599">
                    <a:moveTo>
                      <a:pt x="0" y="0"/>
                    </a:moveTo>
                    <a:lnTo>
                      <a:pt x="21945599" y="0"/>
                    </a:lnTo>
                    <a:lnTo>
                      <a:pt x="21945599" y="1633728"/>
                    </a:lnTo>
                    <a:lnTo>
                      <a:pt x="0" y="163372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21979382" cy="1667510"/>
              </a:xfrm>
              <a:custGeom>
                <a:avLst/>
                <a:gdLst/>
                <a:ahLst/>
                <a:cxnLst/>
                <a:rect r="r" b="b" t="t" l="l"/>
                <a:pathLst>
                  <a:path h="1667510" w="21979382">
                    <a:moveTo>
                      <a:pt x="16891" y="0"/>
                    </a:moveTo>
                    <a:lnTo>
                      <a:pt x="21962490" y="0"/>
                    </a:lnTo>
                    <a:cubicBezTo>
                      <a:pt x="21971890" y="0"/>
                      <a:pt x="21979382" y="7620"/>
                      <a:pt x="21979382" y="16891"/>
                    </a:cubicBezTo>
                    <a:lnTo>
                      <a:pt x="21979382" y="1650619"/>
                    </a:lnTo>
                    <a:cubicBezTo>
                      <a:pt x="21979382" y="1660017"/>
                      <a:pt x="21971763" y="1667510"/>
                      <a:pt x="21962490" y="1667510"/>
                    </a:cubicBezTo>
                    <a:lnTo>
                      <a:pt x="16891" y="1667510"/>
                    </a:lnTo>
                    <a:cubicBezTo>
                      <a:pt x="7493" y="1667510"/>
                      <a:pt x="0" y="1659890"/>
                      <a:pt x="0" y="165061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650619"/>
                    </a:lnTo>
                    <a:lnTo>
                      <a:pt x="16891" y="1650619"/>
                    </a:lnTo>
                    <a:lnTo>
                      <a:pt x="16891" y="1633728"/>
                    </a:lnTo>
                    <a:lnTo>
                      <a:pt x="21962490" y="1633728"/>
                    </a:lnTo>
                    <a:lnTo>
                      <a:pt x="21962490" y="1650619"/>
                    </a:lnTo>
                    <a:lnTo>
                      <a:pt x="21945600" y="1650619"/>
                    </a:lnTo>
                    <a:lnTo>
                      <a:pt x="21945600" y="16891"/>
                    </a:lnTo>
                    <a:lnTo>
                      <a:pt x="21962490" y="16891"/>
                    </a:lnTo>
                    <a:lnTo>
                      <a:pt x="21962490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E2E8F0"/>
              </a:solidFill>
            </p:spPr>
          </p:sp>
        </p:grpSp>
        <p:grpSp>
          <p:nvGrpSpPr>
            <p:cNvPr name="Group 45" id="45"/>
            <p:cNvGrpSpPr/>
            <p:nvPr/>
          </p:nvGrpSpPr>
          <p:grpSpPr>
            <a:xfrm rot="0">
              <a:off x="7355800" y="5779008"/>
              <a:ext cx="1667599" cy="1667599"/>
              <a:chOff x="0" y="0"/>
              <a:chExt cx="1667599" cy="1667599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16891" y="16891"/>
                <a:ext cx="1633728" cy="1633728"/>
              </a:xfrm>
              <a:custGeom>
                <a:avLst/>
                <a:gdLst/>
                <a:ahLst/>
                <a:cxnLst/>
                <a:rect r="r" b="b" t="t" l="l"/>
                <a:pathLst>
                  <a:path h="1633728" w="1633728">
                    <a:moveTo>
                      <a:pt x="0" y="0"/>
                    </a:moveTo>
                    <a:lnTo>
                      <a:pt x="1633728" y="0"/>
                    </a:lnTo>
                    <a:lnTo>
                      <a:pt x="1633728" y="1633728"/>
                    </a:lnTo>
                    <a:lnTo>
                      <a:pt x="0" y="1633728"/>
                    </a:lnTo>
                    <a:close/>
                  </a:path>
                </a:pathLst>
              </a:custGeom>
              <a:solidFill>
                <a:srgbClr val="0D1B2A"/>
              </a:solidFill>
            </p:spPr>
          </p:sp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1667510" cy="1667510"/>
              </a:xfrm>
              <a:custGeom>
                <a:avLst/>
                <a:gdLst/>
                <a:ahLst/>
                <a:cxnLst/>
                <a:rect r="r" b="b" t="t" l="l"/>
                <a:pathLst>
                  <a:path h="1667510" w="1667510">
                    <a:moveTo>
                      <a:pt x="16891" y="0"/>
                    </a:moveTo>
                    <a:lnTo>
                      <a:pt x="1650619" y="0"/>
                    </a:lnTo>
                    <a:cubicBezTo>
                      <a:pt x="1660017" y="0"/>
                      <a:pt x="1667510" y="7620"/>
                      <a:pt x="1667510" y="16891"/>
                    </a:cubicBezTo>
                    <a:lnTo>
                      <a:pt x="1667510" y="1650619"/>
                    </a:lnTo>
                    <a:cubicBezTo>
                      <a:pt x="1667510" y="1660017"/>
                      <a:pt x="1659890" y="1667510"/>
                      <a:pt x="1650619" y="1667510"/>
                    </a:cubicBezTo>
                    <a:lnTo>
                      <a:pt x="16891" y="1667510"/>
                    </a:lnTo>
                    <a:cubicBezTo>
                      <a:pt x="7493" y="1667510"/>
                      <a:pt x="0" y="1659890"/>
                      <a:pt x="0" y="165061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650619"/>
                    </a:lnTo>
                    <a:lnTo>
                      <a:pt x="16891" y="1650619"/>
                    </a:lnTo>
                    <a:lnTo>
                      <a:pt x="16891" y="1633728"/>
                    </a:lnTo>
                    <a:lnTo>
                      <a:pt x="1650619" y="1633728"/>
                    </a:lnTo>
                    <a:lnTo>
                      <a:pt x="1650619" y="1650619"/>
                    </a:lnTo>
                    <a:lnTo>
                      <a:pt x="1633728" y="1650619"/>
                    </a:lnTo>
                    <a:lnTo>
                      <a:pt x="1633728" y="16891"/>
                    </a:lnTo>
                    <a:lnTo>
                      <a:pt x="1650619" y="16891"/>
                    </a:lnTo>
                    <a:lnTo>
                      <a:pt x="1650619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D1B2A"/>
              </a:solidFill>
            </p:spPr>
          </p:sp>
        </p:grpSp>
        <p:grpSp>
          <p:nvGrpSpPr>
            <p:cNvPr name="Group 48" id="48"/>
            <p:cNvGrpSpPr/>
            <p:nvPr/>
          </p:nvGrpSpPr>
          <p:grpSpPr>
            <a:xfrm rot="0">
              <a:off x="7372729" y="5795937"/>
              <a:ext cx="1633728" cy="1633728"/>
              <a:chOff x="0" y="0"/>
              <a:chExt cx="1633728" cy="1633728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633728" cy="1633728"/>
              </a:xfrm>
              <a:custGeom>
                <a:avLst/>
                <a:gdLst/>
                <a:ahLst/>
                <a:cxnLst/>
                <a:rect r="r" b="b" t="t" l="l"/>
                <a:pathLst>
                  <a:path h="1633728" w="1633728">
                    <a:moveTo>
                      <a:pt x="0" y="0"/>
                    </a:moveTo>
                    <a:lnTo>
                      <a:pt x="1633728" y="0"/>
                    </a:lnTo>
                    <a:lnTo>
                      <a:pt x="1633728" y="1633728"/>
                    </a:lnTo>
                    <a:lnTo>
                      <a:pt x="0" y="163372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57150"/>
                <a:ext cx="1633728" cy="169087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840"/>
                  </a:lnSpc>
                </a:pPr>
              </a:p>
            </p:txBody>
          </p:sp>
        </p:grpSp>
        <p:sp>
          <p:nvSpPr>
            <p:cNvPr name="TextBox 51" id="51"/>
            <p:cNvSpPr txBox="true"/>
            <p:nvPr/>
          </p:nvSpPr>
          <p:spPr>
            <a:xfrm rot="0">
              <a:off x="5388145" y="881469"/>
              <a:ext cx="21979471" cy="539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9"/>
                </a:lnSpc>
                <a:spcBef>
                  <a:spcPct val="0"/>
                </a:spcBef>
              </a:pPr>
              <a:r>
                <a:rPr lang="en-US" sz="23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Awaiting access for key data sources (ex: Dun &amp; Bradstreet) within the POC timeframe.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0" y="179743"/>
              <a:ext cx="21979471" cy="654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Tooling Gap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6406248" y="2769022"/>
              <a:ext cx="21979471" cy="1022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9"/>
                </a:lnSpc>
                <a:spcBef>
                  <a:spcPct val="0"/>
                </a:spcBef>
              </a:pPr>
              <a:r>
                <a:rPr lang="en-US" sz="23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Input d</a:t>
              </a:r>
              <a:r>
                <a:rPr lang="en-US" sz="23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ata contained fragmented names, duplicate entries, and scientific notation in financial fields.</a:t>
              </a:r>
            </a:p>
            <a:p>
              <a:pPr algn="ctr">
                <a:lnSpc>
                  <a:spcPts val="2879"/>
                </a:lnSpc>
                <a:spcBef>
                  <a:spcPct val="0"/>
                </a:spcBef>
              </a:pPr>
            </a:p>
          </p:txBody>
        </p:sp>
        <p:sp>
          <p:nvSpPr>
            <p:cNvPr name="TextBox 54" id="54"/>
            <p:cNvSpPr txBox="true"/>
            <p:nvPr/>
          </p:nvSpPr>
          <p:spPr>
            <a:xfrm rot="0">
              <a:off x="191060" y="2172122"/>
              <a:ext cx="21979471" cy="654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"Messy" Input</a:t>
              </a:r>
            </a:p>
          </p:txBody>
        </p:sp>
        <p:sp>
          <p:nvSpPr>
            <p:cNvPr name="TextBox 55" id="55"/>
            <p:cNvSpPr txBox="true"/>
            <p:nvPr/>
          </p:nvSpPr>
          <p:spPr>
            <a:xfrm rot="0">
              <a:off x="6597308" y="4496222"/>
              <a:ext cx="21979471" cy="539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9"/>
                </a:lnSpc>
                <a:spcBef>
                  <a:spcPct val="0"/>
                </a:spcBef>
              </a:pPr>
              <a:r>
                <a:rPr lang="en-US" sz="23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Sever</a:t>
              </a:r>
              <a:r>
                <a:rPr lang="en-US" sz="23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 SME (Small/Medium Enterprise) suppliers had a minimal digital footprint, making ER difficult.</a:t>
              </a:r>
            </a:p>
          </p:txBody>
        </p:sp>
        <p:sp>
          <p:nvSpPr>
            <p:cNvPr name="TextBox 56" id="56"/>
            <p:cNvSpPr txBox="true"/>
            <p:nvPr/>
          </p:nvSpPr>
          <p:spPr>
            <a:xfrm rot="0">
              <a:off x="955299" y="3971461"/>
              <a:ext cx="21979471" cy="654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Low-Visibility Entities</a:t>
              </a:r>
            </a:p>
          </p:txBody>
        </p:sp>
        <p:sp>
          <p:nvSpPr>
            <p:cNvPr name="TextBox 57" id="57"/>
            <p:cNvSpPr txBox="true"/>
            <p:nvPr/>
          </p:nvSpPr>
          <p:spPr>
            <a:xfrm rot="0">
              <a:off x="6597308" y="6631521"/>
              <a:ext cx="21979471" cy="1022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9"/>
                </a:lnSpc>
                <a:spcBef>
                  <a:spcPct val="0"/>
                </a:spcBef>
              </a:pPr>
              <a:r>
                <a:rPr lang="en-US" sz="23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ER e</a:t>
              </a:r>
              <a:r>
                <a:rPr lang="en-US" sz="23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ngine returned multiple high-confidence candidates for several ambiguous supplier names.</a:t>
              </a:r>
            </a:p>
            <a:p>
              <a:pPr algn="ctr">
                <a:lnSpc>
                  <a:spcPts val="2879"/>
                </a:lnSpc>
                <a:spcBef>
                  <a:spcPct val="0"/>
                </a:spcBef>
              </a:pPr>
            </a:p>
          </p:txBody>
        </p:sp>
        <p:sp>
          <p:nvSpPr>
            <p:cNvPr name="TextBox 58" id="58"/>
            <p:cNvSpPr txBox="true"/>
            <p:nvPr/>
          </p:nvSpPr>
          <p:spPr>
            <a:xfrm rot="0">
              <a:off x="0" y="5971121"/>
              <a:ext cx="21979471" cy="654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Ambiguity</a:t>
              </a:r>
            </a:p>
          </p:txBody>
        </p:sp>
      </p:grpSp>
      <p:sp>
        <p:nvSpPr>
          <p:cNvPr name="Freeform 59" id="59"/>
          <p:cNvSpPr/>
          <p:nvPr/>
        </p:nvSpPr>
        <p:spPr>
          <a:xfrm flipH="false" flipV="false" rot="0">
            <a:off x="0" y="0"/>
            <a:ext cx="1364519" cy="2602808"/>
          </a:xfrm>
          <a:custGeom>
            <a:avLst/>
            <a:gdLst/>
            <a:ahLst/>
            <a:cxnLst/>
            <a:rect r="r" b="b" t="t" l="l"/>
            <a:pathLst>
              <a:path h="2602808" w="1364519">
                <a:moveTo>
                  <a:pt x="0" y="0"/>
                </a:moveTo>
                <a:lnTo>
                  <a:pt x="1364519" y="0"/>
                </a:lnTo>
                <a:lnTo>
                  <a:pt x="1364519" y="2602808"/>
                </a:lnTo>
                <a:lnTo>
                  <a:pt x="0" y="26028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14592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64519" y="310529"/>
            <a:ext cx="19228708" cy="3230166"/>
            <a:chOff x="0" y="0"/>
            <a:chExt cx="25638277" cy="43068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638277" cy="4306887"/>
            </a:xfrm>
            <a:custGeom>
              <a:avLst/>
              <a:gdLst/>
              <a:ahLst/>
              <a:cxnLst/>
              <a:rect r="r" b="b" t="t" l="l"/>
              <a:pathLst>
                <a:path h="4306887" w="25638277">
                  <a:moveTo>
                    <a:pt x="0" y="0"/>
                  </a:moveTo>
                  <a:lnTo>
                    <a:pt x="25638277" y="0"/>
                  </a:lnTo>
                  <a:lnTo>
                    <a:pt x="25638277" y="4306887"/>
                  </a:lnTo>
                  <a:lnTo>
                    <a:pt x="0" y="43068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69" r="14402" b="-191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25638277" cy="44497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sz="63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Veridion?</a:t>
              </a:r>
            </a:p>
            <a:p>
              <a:pPr algn="l">
                <a:lnSpc>
                  <a:spcPts val="7679"/>
                </a:lnSpc>
              </a:pPr>
            </a:p>
            <a:p>
              <a:pPr algn="l">
                <a:lnSpc>
                  <a:spcPts val="76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95023" y="1925612"/>
            <a:ext cx="7534510" cy="7528564"/>
            <a:chOff x="0" y="0"/>
            <a:chExt cx="10046013" cy="10038086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8380316" cy="9725825"/>
              <a:chOff x="0" y="0"/>
              <a:chExt cx="8380316" cy="9725825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6586" y="88195"/>
                <a:ext cx="8367108" cy="9548971"/>
              </a:xfrm>
              <a:custGeom>
                <a:avLst/>
                <a:gdLst/>
                <a:ahLst/>
                <a:cxnLst/>
                <a:rect r="r" b="b" t="t" l="l"/>
                <a:pathLst>
                  <a:path h="9548971" w="8367108">
                    <a:moveTo>
                      <a:pt x="0" y="0"/>
                    </a:moveTo>
                    <a:lnTo>
                      <a:pt x="8367108" y="0"/>
                    </a:lnTo>
                    <a:lnTo>
                      <a:pt x="8367108" y="9548971"/>
                    </a:lnTo>
                    <a:lnTo>
                      <a:pt x="0" y="9548971"/>
                    </a:lnTo>
                    <a:close/>
                  </a:path>
                </a:pathLst>
              </a:custGeom>
              <a:solidFill>
                <a:srgbClr val="FFFFFF">
                  <a:alpha val="392"/>
                </a:srgbClr>
              </a:solidFill>
            </p:spPr>
          </p:sp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380282" cy="9725361"/>
              </a:xfrm>
              <a:custGeom>
                <a:avLst/>
                <a:gdLst/>
                <a:ahLst/>
                <a:cxnLst/>
                <a:rect r="r" b="b" t="t" l="l"/>
                <a:pathLst>
                  <a:path h="9725361" w="8380282">
                    <a:moveTo>
                      <a:pt x="6586" y="0"/>
                    </a:moveTo>
                    <a:lnTo>
                      <a:pt x="8373694" y="0"/>
                    </a:lnTo>
                    <a:cubicBezTo>
                      <a:pt x="8377359" y="0"/>
                      <a:pt x="8380282" y="39787"/>
                      <a:pt x="8380282" y="88195"/>
                    </a:cubicBezTo>
                    <a:lnTo>
                      <a:pt x="8380282" y="9637166"/>
                    </a:lnTo>
                    <a:cubicBezTo>
                      <a:pt x="8380282" y="9686237"/>
                      <a:pt x="8377310" y="9725361"/>
                      <a:pt x="8373694" y="9725361"/>
                    </a:cubicBezTo>
                    <a:lnTo>
                      <a:pt x="6586" y="9725361"/>
                    </a:lnTo>
                    <a:cubicBezTo>
                      <a:pt x="2922" y="9725361"/>
                      <a:pt x="0" y="9685573"/>
                      <a:pt x="0" y="9637166"/>
                    </a:cubicBezTo>
                    <a:lnTo>
                      <a:pt x="0" y="88195"/>
                    </a:lnTo>
                    <a:cubicBezTo>
                      <a:pt x="0" y="39787"/>
                      <a:pt x="2971" y="0"/>
                      <a:pt x="6586" y="0"/>
                    </a:cubicBezTo>
                    <a:moveTo>
                      <a:pt x="6586" y="177054"/>
                    </a:moveTo>
                    <a:lnTo>
                      <a:pt x="6586" y="88195"/>
                    </a:lnTo>
                    <a:lnTo>
                      <a:pt x="13222" y="88195"/>
                    </a:lnTo>
                    <a:lnTo>
                      <a:pt x="13222" y="9637166"/>
                    </a:lnTo>
                    <a:lnTo>
                      <a:pt x="6586" y="9637166"/>
                    </a:lnTo>
                    <a:lnTo>
                      <a:pt x="6586" y="9548970"/>
                    </a:lnTo>
                    <a:lnTo>
                      <a:pt x="8373694" y="9548970"/>
                    </a:lnTo>
                    <a:lnTo>
                      <a:pt x="8373694" y="9637166"/>
                    </a:lnTo>
                    <a:lnTo>
                      <a:pt x="8367109" y="9637166"/>
                    </a:lnTo>
                    <a:lnTo>
                      <a:pt x="8367109" y="88195"/>
                    </a:lnTo>
                    <a:lnTo>
                      <a:pt x="8373694" y="88195"/>
                    </a:lnTo>
                    <a:lnTo>
                      <a:pt x="8373694" y="177054"/>
                    </a:lnTo>
                    <a:lnTo>
                      <a:pt x="6586" y="177054"/>
                    </a:lnTo>
                    <a:close/>
                  </a:path>
                </a:pathLst>
              </a:custGeom>
              <a:solidFill>
                <a:srgbClr val="0D9488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923639" y="245613"/>
              <a:ext cx="9122374" cy="826069"/>
              <a:chOff x="0" y="0"/>
              <a:chExt cx="8230376" cy="74529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230376" cy="745295"/>
              </a:xfrm>
              <a:custGeom>
                <a:avLst/>
                <a:gdLst/>
                <a:ahLst/>
                <a:cxnLst/>
                <a:rect r="r" b="b" t="t" l="l"/>
                <a:pathLst>
                  <a:path h="745295" w="8230376">
                    <a:moveTo>
                      <a:pt x="0" y="0"/>
                    </a:moveTo>
                    <a:lnTo>
                      <a:pt x="8230376" y="0"/>
                    </a:lnTo>
                    <a:lnTo>
                      <a:pt x="8230376" y="745295"/>
                    </a:lnTo>
                    <a:lnTo>
                      <a:pt x="0" y="745295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91173" r="34820" b="-89325"/>
                </a:stretch>
              </a:blip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66675"/>
                <a:ext cx="8230376" cy="811970"/>
              </a:xfrm>
              <a:prstGeom prst="rect">
                <a:avLst/>
              </a:prstGeom>
            </p:spPr>
            <p:txBody>
              <a:bodyPr anchor="b" rtlCol="false" tIns="0" lIns="0" bIns="0" rIns="0"/>
              <a:lstStyle/>
              <a:p>
                <a:pPr algn="l">
                  <a:lnSpc>
                    <a:spcPts val="3719"/>
                  </a:lnSpc>
                </a:pPr>
                <a:r>
                  <a:rPr lang="en-US" sz="3099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From Incon</a:t>
                </a:r>
                <a:r>
                  <a:rPr lang="en-US" sz="3099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sistency to Clarity</a:t>
                </a: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0" y="1399969"/>
              <a:ext cx="8150609" cy="86381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8" indent="-269874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CCFBF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</a:t>
              </a:r>
              <a:r>
                <a:rPr lang="en-US" sz="2499">
                  <a:solidFill>
                    <a:srgbClr val="CCFBF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 Reality: Your database is cluttered with messy, duplicated, and outdated entries.</a:t>
              </a:r>
            </a:p>
            <a:p>
              <a:pPr algn="l">
                <a:lnSpc>
                  <a:spcPts val="3499"/>
                </a:lnSpc>
              </a:pPr>
            </a:p>
            <a:p>
              <a:pPr algn="l" marL="539748" indent="-269874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CCFBF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Ou</a:t>
              </a:r>
              <a:r>
                <a:rPr lang="en-US" sz="2499">
                  <a:solidFill>
                    <a:srgbClr val="CCFBF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 Solution: We don't just "clean" data; we resolve entities. We identify the "Golden Record" for every supplier, ensuring you have a single, accurate source of truth for your entire supply chain.</a:t>
              </a:r>
            </a:p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CCFBF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</a:p>
            <a:p>
              <a:pPr algn="l">
                <a:lnSpc>
                  <a:spcPts val="4199"/>
                </a:lnSpc>
              </a:pPr>
            </a:p>
            <a:p>
              <a:pPr algn="l">
                <a:lnSpc>
                  <a:spcPts val="4199"/>
                </a:lnSpc>
              </a:pPr>
            </a:p>
            <a:p>
              <a:pPr algn="l">
                <a:lnSpc>
                  <a:spcPts val="41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12697" y="9716519"/>
            <a:ext cx="18313403" cy="583187"/>
            <a:chOff x="0" y="0"/>
            <a:chExt cx="24417871" cy="77758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24383999" cy="743712"/>
            </a:xfrm>
            <a:custGeom>
              <a:avLst/>
              <a:gdLst/>
              <a:ahLst/>
              <a:cxnLst/>
              <a:rect r="r" b="b" t="t" l="l"/>
              <a:pathLst>
                <a:path h="74371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743712"/>
                  </a:lnTo>
                  <a:lnTo>
                    <a:pt x="0" y="743712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417782" cy="777496"/>
            </a:xfrm>
            <a:custGeom>
              <a:avLst/>
              <a:gdLst/>
              <a:ahLst/>
              <a:cxnLst/>
              <a:rect r="r" b="b" t="t" l="l"/>
              <a:pathLst>
                <a:path h="77749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760603"/>
                  </a:lnTo>
                  <a:cubicBezTo>
                    <a:pt x="24417782" y="770001"/>
                    <a:pt x="24410163" y="777494"/>
                    <a:pt x="24400890" y="777494"/>
                  </a:cubicBezTo>
                  <a:lnTo>
                    <a:pt x="16891" y="777494"/>
                  </a:lnTo>
                  <a:cubicBezTo>
                    <a:pt x="7620" y="777621"/>
                    <a:pt x="0" y="770001"/>
                    <a:pt x="0" y="7606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60603"/>
                  </a:lnTo>
                  <a:lnTo>
                    <a:pt x="16891" y="760603"/>
                  </a:lnTo>
                  <a:lnTo>
                    <a:pt x="16891" y="743712"/>
                  </a:lnTo>
                  <a:lnTo>
                    <a:pt x="24400890" y="743712"/>
                  </a:lnTo>
                  <a:lnTo>
                    <a:pt x="24400890" y="760603"/>
                  </a:lnTo>
                  <a:lnTo>
                    <a:pt x="24384000" y="7606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459200" y="9747504"/>
            <a:ext cx="1280160" cy="493776"/>
            <a:chOff x="0" y="0"/>
            <a:chExt cx="1706880" cy="65836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06880" cy="658368"/>
            </a:xfrm>
            <a:custGeom>
              <a:avLst/>
              <a:gdLst/>
              <a:ahLst/>
              <a:cxnLst/>
              <a:rect r="r" b="b" t="t" l="l"/>
              <a:pathLst>
                <a:path h="65836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6" r="0" b="-51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70688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 / 9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251104" y="1925612"/>
            <a:ext cx="6285237" cy="7332688"/>
            <a:chOff x="0" y="0"/>
            <a:chExt cx="8380316" cy="9776918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8380316" cy="9776918"/>
              <a:chOff x="0" y="0"/>
              <a:chExt cx="8380316" cy="9776918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6586" y="88659"/>
                <a:ext cx="8367108" cy="9599134"/>
              </a:xfrm>
              <a:custGeom>
                <a:avLst/>
                <a:gdLst/>
                <a:ahLst/>
                <a:cxnLst/>
                <a:rect r="r" b="b" t="t" l="l"/>
                <a:pathLst>
                  <a:path h="9599134" w="8367108">
                    <a:moveTo>
                      <a:pt x="0" y="0"/>
                    </a:moveTo>
                    <a:lnTo>
                      <a:pt x="8367108" y="0"/>
                    </a:lnTo>
                    <a:lnTo>
                      <a:pt x="8367108" y="9599133"/>
                    </a:lnTo>
                    <a:lnTo>
                      <a:pt x="0" y="9599133"/>
                    </a:lnTo>
                    <a:close/>
                  </a:path>
                </a:pathLst>
              </a:custGeom>
              <a:solidFill>
                <a:srgbClr val="FFFFFF">
                  <a:alpha val="392"/>
                </a:srgbClr>
              </a:solidFill>
            </p:spPr>
          </p:sp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380282" cy="9776451"/>
              </a:xfrm>
              <a:custGeom>
                <a:avLst/>
                <a:gdLst/>
                <a:ahLst/>
                <a:cxnLst/>
                <a:rect r="r" b="b" t="t" l="l"/>
                <a:pathLst>
                  <a:path h="9776451" w="8380282">
                    <a:moveTo>
                      <a:pt x="6586" y="0"/>
                    </a:moveTo>
                    <a:lnTo>
                      <a:pt x="8373694" y="0"/>
                    </a:lnTo>
                    <a:cubicBezTo>
                      <a:pt x="8377359" y="0"/>
                      <a:pt x="8380282" y="39996"/>
                      <a:pt x="8380282" y="88659"/>
                    </a:cubicBezTo>
                    <a:lnTo>
                      <a:pt x="8380282" y="9687792"/>
                    </a:lnTo>
                    <a:cubicBezTo>
                      <a:pt x="8380282" y="9737122"/>
                      <a:pt x="8377310" y="9776451"/>
                      <a:pt x="8373694" y="9776451"/>
                    </a:cubicBezTo>
                    <a:lnTo>
                      <a:pt x="6586" y="9776451"/>
                    </a:lnTo>
                    <a:cubicBezTo>
                      <a:pt x="2922" y="9776451"/>
                      <a:pt x="0" y="9736455"/>
                      <a:pt x="0" y="9687792"/>
                    </a:cubicBezTo>
                    <a:lnTo>
                      <a:pt x="0" y="88659"/>
                    </a:lnTo>
                    <a:cubicBezTo>
                      <a:pt x="0" y="39996"/>
                      <a:pt x="2971" y="0"/>
                      <a:pt x="6586" y="0"/>
                    </a:cubicBezTo>
                    <a:moveTo>
                      <a:pt x="6586" y="177984"/>
                    </a:moveTo>
                    <a:lnTo>
                      <a:pt x="6586" y="88659"/>
                    </a:lnTo>
                    <a:lnTo>
                      <a:pt x="13222" y="88659"/>
                    </a:lnTo>
                    <a:lnTo>
                      <a:pt x="13222" y="9687792"/>
                    </a:lnTo>
                    <a:lnTo>
                      <a:pt x="6586" y="9687792"/>
                    </a:lnTo>
                    <a:lnTo>
                      <a:pt x="6586" y="9599133"/>
                    </a:lnTo>
                    <a:lnTo>
                      <a:pt x="8373694" y="9599133"/>
                    </a:lnTo>
                    <a:lnTo>
                      <a:pt x="8373694" y="9687792"/>
                    </a:lnTo>
                    <a:lnTo>
                      <a:pt x="8367109" y="9687792"/>
                    </a:lnTo>
                    <a:lnTo>
                      <a:pt x="8367109" y="88659"/>
                    </a:lnTo>
                    <a:lnTo>
                      <a:pt x="8373694" y="88659"/>
                    </a:lnTo>
                    <a:lnTo>
                      <a:pt x="8373694" y="177984"/>
                    </a:lnTo>
                    <a:lnTo>
                      <a:pt x="6586" y="177984"/>
                    </a:lnTo>
                    <a:close/>
                  </a:path>
                </a:pathLst>
              </a:custGeom>
              <a:solidFill>
                <a:srgbClr val="0D9488"/>
              </a:solidFill>
            </p:spPr>
          </p:sp>
        </p:grpSp>
        <p:grpSp>
          <p:nvGrpSpPr>
            <p:cNvPr name="Group 23" id="23"/>
            <p:cNvGrpSpPr/>
            <p:nvPr/>
          </p:nvGrpSpPr>
          <p:grpSpPr>
            <a:xfrm rot="0">
              <a:off x="706886" y="244352"/>
              <a:ext cx="7443723" cy="1448370"/>
              <a:chOff x="0" y="0"/>
              <a:chExt cx="7648468" cy="1488209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7648468" cy="1488209"/>
              </a:xfrm>
              <a:custGeom>
                <a:avLst/>
                <a:gdLst/>
                <a:ahLst/>
                <a:cxnLst/>
                <a:rect r="r" b="b" t="t" l="l"/>
                <a:pathLst>
                  <a:path h="1488209" w="7648468">
                    <a:moveTo>
                      <a:pt x="0" y="0"/>
                    </a:moveTo>
                    <a:lnTo>
                      <a:pt x="7648468" y="0"/>
                    </a:lnTo>
                    <a:lnTo>
                      <a:pt x="7648468" y="1488209"/>
                    </a:lnTo>
                    <a:lnTo>
                      <a:pt x="0" y="1488209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45659" r="29862" b="5185"/>
                </a:stretch>
              </a:blip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66675"/>
                <a:ext cx="7648468" cy="1554884"/>
              </a:xfrm>
              <a:prstGeom prst="rect">
                <a:avLst/>
              </a:prstGeom>
            </p:spPr>
            <p:txBody>
              <a:bodyPr anchor="b" rtlCol="false" tIns="0" lIns="0" bIns="0" rIns="0"/>
              <a:lstStyle/>
              <a:p>
                <a:pPr algn="l">
                  <a:lnSpc>
                    <a:spcPts val="3719"/>
                  </a:lnSpc>
                </a:pPr>
                <a:r>
                  <a:rPr lang="en-US" sz="3099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The Hybr</a:t>
                </a:r>
                <a:r>
                  <a:rPr lang="en-US" sz="3099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id Edge: Automated Speed + Manual Precision</a:t>
                </a: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0" y="1725381"/>
              <a:ext cx="8150609" cy="7126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CCFBF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Scalabl</a:t>
              </a:r>
              <a:r>
                <a:rPr lang="en-US" sz="2499">
                  <a:solidFill>
                    <a:srgbClr val="CCFBF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 Automation</a:t>
              </a:r>
            </a:p>
            <a:p>
              <a:pPr algn="l" marL="539748" indent="-269874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CCFBF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AI-Driven Pipeline: Process thousands of records in seconds.</a:t>
              </a:r>
            </a:p>
            <a:p>
              <a:pPr algn="l" marL="539748" indent="-269874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CCFBF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Real-Time Evolution: Data that stays as fast as the market.</a:t>
              </a:r>
            </a:p>
            <a:p>
              <a:pPr algn="l">
                <a:lnSpc>
                  <a:spcPts val="3499"/>
                </a:lnSpc>
              </a:pPr>
            </a:p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CCFBF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Human-in-the-Loop</a:t>
              </a:r>
            </a:p>
            <a:p>
              <a:pPr algn="l" marL="539748" indent="-269874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CCFBF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Targeted Verification: Manual spot-checks for low-confidence matches.</a:t>
              </a:r>
            </a:p>
            <a:p>
              <a:pPr algn="l" marL="539748" indent="-269874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CCFBF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 Certainty: 100% accuracy for high-stakes decisions.</a:t>
              </a:r>
            </a:p>
            <a:p>
              <a:pPr algn="l">
                <a:lnSpc>
                  <a:spcPts val="4199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0" y="0"/>
            <a:ext cx="1364519" cy="2602808"/>
          </a:xfrm>
          <a:custGeom>
            <a:avLst/>
            <a:gdLst/>
            <a:ahLst/>
            <a:cxnLst/>
            <a:rect r="r" b="b" t="t" l="l"/>
            <a:pathLst>
              <a:path h="2602808" w="1364519">
                <a:moveTo>
                  <a:pt x="0" y="0"/>
                </a:moveTo>
                <a:lnTo>
                  <a:pt x="1364519" y="0"/>
                </a:lnTo>
                <a:lnTo>
                  <a:pt x="1364519" y="2602808"/>
                </a:lnTo>
                <a:lnTo>
                  <a:pt x="0" y="26028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14592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DAHFHtyhyV0</dc:identifier>
  <dcterms:modified xsi:type="dcterms:W3CDTF">2011-08-01T06:04:30Z</dcterms:modified>
  <cp:revision>1</cp:revision>
  <dc:title>client_presentation.pptx</dc:title>
</cp:coreProperties>
</file>